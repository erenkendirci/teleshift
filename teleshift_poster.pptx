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30275213" cy="42803763"/>
  <p:notesSz cx="42803763" cy="30275213"/>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26" d="100"/>
          <a:sy n="26" d="100"/>
        </p:scale>
        <p:origin x="1672"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8357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4F7"/>
        </a:solidFill>
        <a:effectLst/>
      </p:bgPr>
    </p:bg>
    <p:spTree>
      <p:nvGrpSpPr>
        <p:cNvPr id="1" name=""/>
        <p:cNvGrpSpPr/>
        <p:nvPr/>
      </p:nvGrpSpPr>
      <p:grpSpPr>
        <a:xfrm>
          <a:off x="0" y="0"/>
          <a:ext cx="0" cy="0"/>
          <a:chOff x="0" y="0"/>
          <a:chExt cx="0" cy="0"/>
        </a:xfrm>
      </p:grpSpPr>
      <p:sp>
        <p:nvSpPr>
          <p:cNvPr id="2" name="Shape 0"/>
          <p:cNvSpPr/>
          <p:nvPr/>
        </p:nvSpPr>
        <p:spPr>
          <a:xfrm>
            <a:off x="0" y="-27432"/>
            <a:ext cx="30275784" cy="3264408"/>
          </a:xfrm>
          <a:prstGeom prst="rect">
            <a:avLst/>
          </a:prstGeom>
          <a:solidFill>
            <a:srgbClr val="0D1B2A"/>
          </a:solidFill>
          <a:ln w="12700">
            <a:solidFill>
              <a:srgbClr val="0D1B2A"/>
            </a:solidFill>
            <a:prstDash val="solid"/>
          </a:ln>
        </p:spPr>
        <p:txBody>
          <a:bodyPr/>
          <a:lstStyle/>
          <a:p>
            <a:endParaRPr lang="tr-TR" dirty="0"/>
          </a:p>
        </p:txBody>
      </p:sp>
      <p:sp>
        <p:nvSpPr>
          <p:cNvPr id="3" name="Text 1"/>
          <p:cNvSpPr/>
          <p:nvPr/>
        </p:nvSpPr>
        <p:spPr>
          <a:xfrm>
            <a:off x="-278892" y="-203790"/>
            <a:ext cx="30042612" cy="2013069"/>
          </a:xfrm>
          <a:prstGeom prst="rect">
            <a:avLst/>
          </a:prstGeom>
          <a:noFill/>
          <a:ln/>
        </p:spPr>
        <p:txBody>
          <a:bodyPr wrap="square" lIns="0" tIns="0" rIns="0" bIns="0" rtlCol="0" anchor="ctr"/>
          <a:lstStyle/>
          <a:p>
            <a:pPr marL="0" indent="0" algn="ctr">
              <a:buNone/>
            </a:pPr>
            <a:r>
              <a:rPr lang="en-US" sz="8000" b="1" dirty="0">
                <a:solidFill>
                  <a:srgbClr val="FFFFFF"/>
                </a:solidFill>
                <a:latin typeface="Arial" pitchFamily="34" charset="0"/>
                <a:ea typeface="Arial" pitchFamily="34" charset="-122"/>
                <a:cs typeface="Arial" pitchFamily="34" charset="-120"/>
              </a:rPr>
              <a:t>TeleShift</a:t>
            </a:r>
            <a:endParaRPr lang="en-US" sz="8000" dirty="0"/>
          </a:p>
        </p:txBody>
      </p:sp>
      <p:sp>
        <p:nvSpPr>
          <p:cNvPr id="4" name="Text 2"/>
          <p:cNvSpPr/>
          <p:nvPr/>
        </p:nvSpPr>
        <p:spPr>
          <a:xfrm>
            <a:off x="141732" y="1130032"/>
            <a:ext cx="30275784" cy="1393299"/>
          </a:xfrm>
          <a:prstGeom prst="rect">
            <a:avLst/>
          </a:prstGeom>
          <a:noFill/>
          <a:ln/>
        </p:spPr>
        <p:txBody>
          <a:bodyPr wrap="square" lIns="0" tIns="0" rIns="0" bIns="0" rtlCol="0" anchor="ctr"/>
          <a:lstStyle/>
          <a:p>
            <a:pPr marL="0" indent="0" algn="ctr">
              <a:buNone/>
            </a:pPr>
            <a:r>
              <a:rPr lang="en-US" sz="3600" dirty="0">
                <a:solidFill>
                  <a:srgbClr val="D4EEF2"/>
                </a:solidFill>
                <a:latin typeface="Arial" pitchFamily="34" charset="0"/>
                <a:ea typeface="Arial" pitchFamily="34" charset="-122"/>
                <a:cs typeface="Arial" pitchFamily="34" charset="-120"/>
              </a:rPr>
              <a:t>Seasonal Reorganization of Global Extreme Precipitation Synchronization Networks</a:t>
            </a:r>
            <a:endParaRPr lang="en-US" sz="3600" dirty="0"/>
          </a:p>
        </p:txBody>
      </p:sp>
      <p:sp>
        <p:nvSpPr>
          <p:cNvPr id="5" name="Text 3"/>
          <p:cNvSpPr/>
          <p:nvPr/>
        </p:nvSpPr>
        <p:spPr>
          <a:xfrm>
            <a:off x="585216" y="2348235"/>
            <a:ext cx="29178504" cy="594360"/>
          </a:xfrm>
          <a:prstGeom prst="rect">
            <a:avLst/>
          </a:prstGeom>
          <a:noFill/>
          <a:ln/>
        </p:spPr>
        <p:txBody>
          <a:bodyPr wrap="square" lIns="0" tIns="0" rIns="0" bIns="0" rtlCol="0" anchor="ctr"/>
          <a:lstStyle/>
          <a:p>
            <a:pPr marL="0" indent="0" algn="ctr">
              <a:buNone/>
            </a:pPr>
            <a:r>
              <a:rPr lang="en-US" sz="2000" dirty="0">
                <a:solidFill>
                  <a:srgbClr val="5A6A7A"/>
                </a:solidFill>
                <a:latin typeface="Arial" pitchFamily="34" charset="0"/>
                <a:ea typeface="Arial" pitchFamily="34" charset="-122"/>
                <a:cs typeface="Arial" pitchFamily="34" charset="-120"/>
              </a:rPr>
              <a:t>Mehmet Eren Kendirci   |   Faculty of Engineering and Natural Sciences, Sabancı University   |   NetSciSU Miniconference 2026</a:t>
            </a:r>
            <a:endParaRPr lang="en-US" sz="2000" dirty="0"/>
          </a:p>
        </p:txBody>
      </p:sp>
      <p:sp>
        <p:nvSpPr>
          <p:cNvPr id="6" name="Shape 4"/>
          <p:cNvSpPr/>
          <p:nvPr/>
        </p:nvSpPr>
        <p:spPr>
          <a:xfrm>
            <a:off x="667512" y="3035809"/>
            <a:ext cx="9531096" cy="34445448"/>
          </a:xfrm>
          <a:prstGeom prst="rect">
            <a:avLst/>
          </a:prstGeom>
          <a:solidFill>
            <a:srgbClr val="FFFFFF"/>
          </a:solidFill>
          <a:ln w="6350">
            <a:solidFill>
              <a:srgbClr val="DDE4EC"/>
            </a:solidFill>
            <a:prstDash val="solid"/>
          </a:ln>
        </p:spPr>
        <p:txBody>
          <a:bodyPr/>
          <a:lstStyle/>
          <a:p>
            <a:endParaRPr lang="tr-TR"/>
          </a:p>
        </p:txBody>
      </p:sp>
      <p:sp>
        <p:nvSpPr>
          <p:cNvPr id="7" name="Shape 5"/>
          <p:cNvSpPr/>
          <p:nvPr/>
        </p:nvSpPr>
        <p:spPr>
          <a:xfrm>
            <a:off x="10372344" y="3063240"/>
            <a:ext cx="9531096" cy="34418016"/>
          </a:xfrm>
          <a:prstGeom prst="rect">
            <a:avLst/>
          </a:prstGeom>
          <a:solidFill>
            <a:srgbClr val="FFFFFF"/>
          </a:solidFill>
          <a:ln w="6350">
            <a:solidFill>
              <a:srgbClr val="DDE4EC"/>
            </a:solidFill>
            <a:prstDash val="solid"/>
          </a:ln>
        </p:spPr>
        <p:txBody>
          <a:bodyPr/>
          <a:lstStyle/>
          <a:p>
            <a:endParaRPr lang="tr-TR"/>
          </a:p>
        </p:txBody>
      </p:sp>
      <p:sp>
        <p:nvSpPr>
          <p:cNvPr id="8" name="Shape 6"/>
          <p:cNvSpPr/>
          <p:nvPr/>
        </p:nvSpPr>
        <p:spPr>
          <a:xfrm>
            <a:off x="20196048" y="3063240"/>
            <a:ext cx="9531096" cy="34418016"/>
          </a:xfrm>
          <a:prstGeom prst="rect">
            <a:avLst/>
          </a:prstGeom>
          <a:solidFill>
            <a:srgbClr val="FFFFFF"/>
          </a:solidFill>
          <a:ln w="6350">
            <a:solidFill>
              <a:srgbClr val="DDE4EC"/>
            </a:solidFill>
            <a:prstDash val="solid"/>
          </a:ln>
        </p:spPr>
        <p:txBody>
          <a:bodyPr/>
          <a:lstStyle/>
          <a:p>
            <a:endParaRPr lang="tr-TR"/>
          </a:p>
        </p:txBody>
      </p:sp>
      <p:sp>
        <p:nvSpPr>
          <p:cNvPr id="9" name="Shape 7"/>
          <p:cNvSpPr/>
          <p:nvPr/>
        </p:nvSpPr>
        <p:spPr>
          <a:xfrm>
            <a:off x="749808" y="3264408"/>
            <a:ext cx="9128760" cy="420624"/>
          </a:xfrm>
          <a:prstGeom prst="rect">
            <a:avLst/>
          </a:prstGeom>
          <a:solidFill>
            <a:srgbClr val="1B7F8E"/>
          </a:solidFill>
          <a:ln w="12700">
            <a:solidFill>
              <a:srgbClr val="1B7F8E"/>
            </a:solidFill>
            <a:prstDash val="solid"/>
          </a:ln>
        </p:spPr>
        <p:txBody>
          <a:bodyPr/>
          <a:lstStyle/>
          <a:p>
            <a:endParaRPr lang="tr-TR"/>
          </a:p>
        </p:txBody>
      </p:sp>
      <p:sp>
        <p:nvSpPr>
          <p:cNvPr id="10" name="Text 8"/>
          <p:cNvSpPr/>
          <p:nvPr/>
        </p:nvSpPr>
        <p:spPr>
          <a:xfrm>
            <a:off x="841248" y="3264408"/>
            <a:ext cx="8945880" cy="420624"/>
          </a:xfrm>
          <a:prstGeom prst="rect">
            <a:avLst/>
          </a:prstGeom>
          <a:noFill/>
          <a:ln/>
        </p:spPr>
        <p:txBody>
          <a:bodyPr wrap="square" lIns="0" tIns="0" rIns="0" bIns="0" rtlCol="0" anchor="ctr"/>
          <a:lstStyle/>
          <a:p>
            <a:pPr marL="0" indent="0">
              <a:buNone/>
            </a:pPr>
            <a:r>
              <a:rPr lang="en-US" sz="2300" b="1" dirty="0">
                <a:solidFill>
                  <a:srgbClr val="FFFFFF"/>
                </a:solidFill>
                <a:latin typeface="Arial" pitchFamily="34" charset="0"/>
                <a:ea typeface="Arial" pitchFamily="34" charset="-122"/>
                <a:cs typeface="Arial" pitchFamily="34" charset="-120"/>
              </a:rPr>
              <a:t>Introduction &amp; Motivation</a:t>
            </a:r>
            <a:endParaRPr lang="en-US" sz="2300" dirty="0"/>
          </a:p>
        </p:txBody>
      </p:sp>
      <p:sp>
        <p:nvSpPr>
          <p:cNvPr id="11" name="Text 9"/>
          <p:cNvSpPr/>
          <p:nvPr/>
        </p:nvSpPr>
        <p:spPr>
          <a:xfrm>
            <a:off x="749808" y="3831336"/>
            <a:ext cx="9128760" cy="4389120"/>
          </a:xfrm>
          <a:prstGeom prst="rect">
            <a:avLst/>
          </a:prstGeom>
          <a:noFill/>
          <a:ln/>
        </p:spPr>
        <p:txBody>
          <a:bodyPr wrap="square" rtlCol="0" anchor="t"/>
          <a:lstStyle/>
          <a:p>
            <a:pPr marL="0" indent="0">
              <a:buNone/>
            </a:pPr>
            <a:r>
              <a:rPr lang="en-US" sz="1800" dirty="0">
                <a:solidFill>
                  <a:srgbClr val="0D1B2A"/>
                </a:solidFill>
                <a:latin typeface="Arial" pitchFamily="34" charset="0"/>
                <a:ea typeface="Arial" pitchFamily="34" charset="-122"/>
                <a:cs typeface="Arial" pitchFamily="34" charset="-120"/>
              </a:rPr>
              <a:t>Extreme weather events -- floods, droughts, intense rainfall -- frequently strike simultaneously across different continents, driven by large-scale atmospheric wave patterns linking distant regions.</a:t>
            </a:r>
            <a:endParaRPr lang="en-US" sz="1800" dirty="0"/>
          </a:p>
          <a:p>
            <a:pPr marL="0" indent="0">
              <a:buNone/>
            </a:pPr>
            <a:r>
              <a:rPr lang="en-US" sz="400" dirty="0">
                <a:solidFill>
                  <a:srgbClr val="0D1B2A"/>
                </a:solidFill>
                <a:latin typeface="Arial" pitchFamily="34" charset="0"/>
                <a:ea typeface="Arial" pitchFamily="34" charset="-122"/>
                <a:cs typeface="Arial" pitchFamily="34" charset="-120"/>
              </a:rPr>
              <a:t> </a:t>
            </a:r>
            <a:endParaRPr lang="en-US" sz="1800" dirty="0"/>
          </a:p>
          <a:p>
            <a:pPr marL="0" indent="0">
              <a:buNone/>
            </a:pPr>
            <a:r>
              <a:rPr lang="en-US" sz="1800" dirty="0">
                <a:solidFill>
                  <a:srgbClr val="0D1B2A"/>
                </a:solidFill>
                <a:latin typeface="Arial" pitchFamily="34" charset="0"/>
                <a:ea typeface="Arial" pitchFamily="34" charset="-122"/>
                <a:cs typeface="Arial" pitchFamily="34" charset="-120"/>
              </a:rPr>
              <a:t>Understanding teleconnection patterns is critical for:</a:t>
            </a:r>
            <a:endParaRPr lang="en-US" sz="1800" dirty="0"/>
          </a:p>
          <a:p>
            <a:pPr marL="342900" indent="-342900">
              <a:buSzPct val="100000"/>
              <a:buChar char="•"/>
            </a:pPr>
            <a:r>
              <a:rPr lang="en-US" sz="1800" dirty="0">
                <a:solidFill>
                  <a:srgbClr val="0D1B2A"/>
                </a:solidFill>
                <a:latin typeface="Arial" pitchFamily="34" charset="0"/>
                <a:ea typeface="Arial" pitchFamily="34" charset="-122"/>
                <a:cs typeface="Arial" pitchFamily="34" charset="-120"/>
              </a:rPr>
              <a:t>Seasonal forecasting and early warning systems</a:t>
            </a:r>
            <a:endParaRPr lang="en-US" sz="1800" dirty="0"/>
          </a:p>
          <a:p>
            <a:pPr marL="342900" indent="-342900">
              <a:buSzPct val="100000"/>
              <a:buChar char="•"/>
            </a:pPr>
            <a:r>
              <a:rPr lang="en-US" sz="1800" dirty="0">
                <a:solidFill>
                  <a:srgbClr val="0D1B2A"/>
                </a:solidFill>
                <a:latin typeface="Arial" pitchFamily="34" charset="0"/>
                <a:ea typeface="Arial" pitchFamily="34" charset="-122"/>
                <a:cs typeface="Arial" pitchFamily="34" charset="-120"/>
              </a:rPr>
              <a:t>Climate risk assessment across interconnected economies</a:t>
            </a:r>
            <a:endParaRPr lang="en-US" sz="1800" dirty="0"/>
          </a:p>
          <a:p>
            <a:pPr marL="342900" indent="-342900">
              <a:buSzPct val="100000"/>
              <a:buChar char="•"/>
            </a:pPr>
            <a:r>
              <a:rPr lang="en-US" sz="1800" dirty="0">
                <a:solidFill>
                  <a:srgbClr val="0D1B2A"/>
                </a:solidFill>
                <a:latin typeface="Arial" pitchFamily="34" charset="0"/>
                <a:ea typeface="Arial" pitchFamily="34" charset="-122"/>
                <a:cs typeface="Arial" pitchFamily="34" charset="-120"/>
              </a:rPr>
              <a:t>Identifying physical mechanisms linking regional extreme events globally</a:t>
            </a:r>
            <a:endParaRPr lang="en-US" sz="1800" dirty="0"/>
          </a:p>
          <a:p>
            <a:pPr marL="0" indent="0">
              <a:buNone/>
            </a:pPr>
            <a:r>
              <a:rPr lang="en-US" sz="400" dirty="0">
                <a:solidFill>
                  <a:srgbClr val="0D1B2A"/>
                </a:solidFill>
                <a:latin typeface="Arial" pitchFamily="34" charset="0"/>
                <a:ea typeface="Arial" pitchFamily="34" charset="-122"/>
                <a:cs typeface="Arial" pitchFamily="34" charset="-120"/>
              </a:rPr>
              <a:t> </a:t>
            </a:r>
            <a:endParaRPr lang="en-US" sz="1800" dirty="0"/>
          </a:p>
          <a:p>
            <a:pPr marL="0" indent="0">
              <a:buNone/>
            </a:pPr>
            <a:r>
              <a:rPr lang="en-US" sz="1800" dirty="0">
                <a:solidFill>
                  <a:srgbClr val="0D1B2A"/>
                </a:solidFill>
                <a:latin typeface="Arial" pitchFamily="34" charset="0"/>
                <a:ea typeface="Arial" pitchFamily="34" charset="-122"/>
                <a:cs typeface="Arial" pitchFamily="34" charset="-120"/>
              </a:rPr>
              <a:t>Climate networks provide a principled framework: nodes represent geographic locations, directed edges encode statistically significant lagged co-occurrence of extreme events. TeleShift asks: how do these global networks reorganize between boreal winter (DJF) and summer (JJA)?</a:t>
            </a:r>
            <a:endParaRPr lang="en-US" sz="1800" dirty="0"/>
          </a:p>
        </p:txBody>
      </p:sp>
      <p:sp>
        <p:nvSpPr>
          <p:cNvPr id="12" name="Shape 10"/>
          <p:cNvSpPr/>
          <p:nvPr/>
        </p:nvSpPr>
        <p:spPr>
          <a:xfrm>
            <a:off x="749808" y="8357616"/>
            <a:ext cx="9128760" cy="1691640"/>
          </a:xfrm>
          <a:prstGeom prst="rect">
            <a:avLst/>
          </a:prstGeom>
          <a:solidFill>
            <a:srgbClr val="D4EEF2"/>
          </a:solidFill>
          <a:ln w="19050">
            <a:solidFill>
              <a:srgbClr val="1B7F8E"/>
            </a:solidFill>
            <a:prstDash val="solid"/>
          </a:ln>
        </p:spPr>
        <p:txBody>
          <a:bodyPr/>
          <a:lstStyle/>
          <a:p>
            <a:endParaRPr lang="tr-TR"/>
          </a:p>
        </p:txBody>
      </p:sp>
      <p:sp>
        <p:nvSpPr>
          <p:cNvPr id="13" name="Text 11"/>
          <p:cNvSpPr/>
          <p:nvPr/>
        </p:nvSpPr>
        <p:spPr>
          <a:xfrm>
            <a:off x="859536" y="8449056"/>
            <a:ext cx="8909304" cy="1508760"/>
          </a:xfrm>
          <a:prstGeom prst="rect">
            <a:avLst/>
          </a:prstGeom>
          <a:noFill/>
          <a:ln/>
        </p:spPr>
        <p:txBody>
          <a:bodyPr wrap="square" rtlCol="0" anchor="t"/>
          <a:lstStyle/>
          <a:p>
            <a:pPr marL="0" indent="0">
              <a:buNone/>
            </a:pPr>
            <a:r>
              <a:rPr lang="en-US" sz="1800" b="1" dirty="0">
                <a:solidFill>
                  <a:srgbClr val="0D1B2A"/>
                </a:solidFill>
                <a:latin typeface="Arial" pitchFamily="34" charset="0"/>
                <a:ea typeface="Arial" pitchFamily="34" charset="-122"/>
                <a:cs typeface="Arial" pitchFamily="34" charset="-120"/>
              </a:rPr>
              <a:t>Three Hypotheses Tested</a:t>
            </a:r>
            <a:endParaRPr lang="en-US" sz="1800" dirty="0"/>
          </a:p>
          <a:p>
            <a:pPr marL="342900" indent="-342900">
              <a:buSzPct val="100000"/>
              <a:buChar char="•"/>
            </a:pPr>
            <a:r>
              <a:rPr lang="en-US" sz="1800" dirty="0">
                <a:solidFill>
                  <a:srgbClr val="0D1B2A"/>
                </a:solidFill>
                <a:latin typeface="Arial" pitchFamily="34" charset="0"/>
                <a:ea typeface="Arial" pitchFamily="34" charset="-122"/>
                <a:cs typeface="Arial" pitchFamily="34" charset="-120"/>
              </a:rPr>
              <a:t>H1  Winter network connectivity significantly exceeds summer</a:t>
            </a:r>
            <a:endParaRPr lang="en-US" sz="1800" dirty="0"/>
          </a:p>
          <a:p>
            <a:pPr marL="342900" indent="-342900">
              <a:buSzPct val="100000"/>
              <a:buChar char="•"/>
            </a:pPr>
            <a:r>
              <a:rPr lang="en-US" sz="1800" dirty="0">
                <a:solidFill>
                  <a:srgbClr val="0D1B2A"/>
                </a:solidFill>
                <a:latin typeface="Arial" pitchFamily="34" charset="0"/>
                <a:ea typeface="Arial" pitchFamily="34" charset="-122"/>
                <a:cs typeface="Arial" pitchFamily="34" charset="-120"/>
              </a:rPr>
              <a:t>H2  Hub regions shift geographically between seasons</a:t>
            </a:r>
            <a:endParaRPr lang="en-US" sz="1800" dirty="0"/>
          </a:p>
          <a:p>
            <a:pPr marL="342900" indent="-342900">
              <a:buSzPct val="100000"/>
              <a:buChar char="•"/>
            </a:pPr>
            <a:r>
              <a:rPr lang="en-US" sz="1800" dirty="0">
                <a:solidFill>
                  <a:srgbClr val="0D1B2A"/>
                </a:solidFill>
                <a:latin typeface="Arial" pitchFamily="34" charset="0"/>
                <a:ea typeface="Arial" pitchFamily="34" charset="-122"/>
                <a:cs typeface="Arial" pitchFamily="34" charset="-120"/>
              </a:rPr>
              <a:t>H3  Long-range links (&gt;2,500 km) more abundant in winter</a:t>
            </a:r>
            <a:endParaRPr lang="en-US" sz="1800" dirty="0"/>
          </a:p>
        </p:txBody>
      </p:sp>
      <p:sp>
        <p:nvSpPr>
          <p:cNvPr id="14" name="Shape 12"/>
          <p:cNvSpPr/>
          <p:nvPr/>
        </p:nvSpPr>
        <p:spPr>
          <a:xfrm>
            <a:off x="749808" y="10232136"/>
            <a:ext cx="9128760" cy="420624"/>
          </a:xfrm>
          <a:prstGeom prst="rect">
            <a:avLst/>
          </a:prstGeom>
          <a:solidFill>
            <a:srgbClr val="1B7F8E"/>
          </a:solidFill>
          <a:ln w="12700">
            <a:solidFill>
              <a:srgbClr val="1B7F8E"/>
            </a:solidFill>
            <a:prstDash val="solid"/>
          </a:ln>
        </p:spPr>
        <p:txBody>
          <a:bodyPr/>
          <a:lstStyle/>
          <a:p>
            <a:endParaRPr lang="tr-TR"/>
          </a:p>
        </p:txBody>
      </p:sp>
      <p:sp>
        <p:nvSpPr>
          <p:cNvPr id="15" name="Text 13"/>
          <p:cNvSpPr/>
          <p:nvPr/>
        </p:nvSpPr>
        <p:spPr>
          <a:xfrm>
            <a:off x="841248" y="10232136"/>
            <a:ext cx="8945880" cy="420624"/>
          </a:xfrm>
          <a:prstGeom prst="rect">
            <a:avLst/>
          </a:prstGeom>
          <a:noFill/>
          <a:ln/>
        </p:spPr>
        <p:txBody>
          <a:bodyPr wrap="square" lIns="0" tIns="0" rIns="0" bIns="0" rtlCol="0" anchor="ctr"/>
          <a:lstStyle/>
          <a:p>
            <a:pPr marL="0" indent="0">
              <a:buNone/>
            </a:pPr>
            <a:r>
              <a:rPr lang="en-US" sz="2300" b="1" dirty="0">
                <a:solidFill>
                  <a:srgbClr val="FFFFFF"/>
                </a:solidFill>
                <a:latin typeface="Arial" pitchFamily="34" charset="0"/>
                <a:ea typeface="Arial" pitchFamily="34" charset="-122"/>
                <a:cs typeface="Arial" pitchFamily="34" charset="-120"/>
              </a:rPr>
              <a:t>Data &amp; Domain</a:t>
            </a:r>
            <a:endParaRPr lang="en-US" sz="2300" dirty="0"/>
          </a:p>
        </p:txBody>
      </p:sp>
      <p:sp>
        <p:nvSpPr>
          <p:cNvPr id="16" name="Text 14"/>
          <p:cNvSpPr/>
          <p:nvPr/>
        </p:nvSpPr>
        <p:spPr>
          <a:xfrm>
            <a:off x="749808" y="10799064"/>
            <a:ext cx="9128760" cy="3566160"/>
          </a:xfrm>
          <a:prstGeom prst="rect">
            <a:avLst/>
          </a:prstGeom>
          <a:noFill/>
          <a:ln/>
        </p:spPr>
        <p:txBody>
          <a:bodyPr wrap="square" rtlCol="0" anchor="t"/>
          <a:lstStyle/>
          <a:p>
            <a:pPr marL="342900" indent="-342900">
              <a:buSzPct val="100000"/>
              <a:buChar char="•"/>
            </a:pPr>
            <a:r>
              <a:rPr lang="en-US" sz="1800" dirty="0">
                <a:solidFill>
                  <a:srgbClr val="0D1B2A"/>
                </a:solidFill>
                <a:latin typeface="Arial" pitchFamily="34" charset="0"/>
                <a:ea typeface="Arial" pitchFamily="34" charset="-122"/>
                <a:cs typeface="Arial" pitchFamily="34" charset="-120"/>
              </a:rPr>
              <a:t>Source: ERA5 reanalysis (ECMWF) -- state-of-the-art atmospheric reanalysis combining model physics with billions of global observations</a:t>
            </a:r>
            <a:endParaRPr lang="en-US" sz="1800" dirty="0"/>
          </a:p>
          <a:p>
            <a:pPr marL="342900" indent="-342900">
              <a:buSzPct val="100000"/>
              <a:buChar char="•"/>
            </a:pPr>
            <a:r>
              <a:rPr lang="en-US" sz="1800" dirty="0">
                <a:solidFill>
                  <a:srgbClr val="0D1B2A"/>
                </a:solidFill>
                <a:latin typeface="Arial" pitchFamily="34" charset="0"/>
                <a:ea typeface="Arial" pitchFamily="34" charset="-122"/>
                <a:cs typeface="Arial" pitchFamily="34" charset="-120"/>
              </a:rPr>
              <a:t>Variable: Total daily precipitation | Period: 1980-2026 (46 years) | ~4,211 DJF days, ~4,232 JJA days -- processed independently</a:t>
            </a:r>
            <a:endParaRPr lang="en-US" sz="1800" dirty="0"/>
          </a:p>
          <a:p>
            <a:pPr marL="342900" indent="-342900">
              <a:buSzPct val="100000"/>
              <a:buChar char="•"/>
            </a:pPr>
            <a:r>
              <a:rPr lang="en-US" sz="1800" dirty="0">
                <a:solidFill>
                  <a:srgbClr val="0D1B2A"/>
                </a:solidFill>
                <a:latin typeface="Arial" pitchFamily="34" charset="0"/>
                <a:ea typeface="Arial" pitchFamily="34" charset="-122"/>
                <a:cs typeface="Arial" pitchFamily="34" charset="-120"/>
              </a:rPr>
              <a:t>Domain: 60S-60N | polar regions excluded -- at 2x2 degree resolution polar cells are only ~7 km wide, confirmed to produce 100% spurious hubs in unmasked networks</a:t>
            </a:r>
            <a:endParaRPr lang="en-US" sz="1800" dirty="0"/>
          </a:p>
          <a:p>
            <a:pPr marL="342900" indent="-342900">
              <a:buSzPct val="100000"/>
              <a:buChar char="•"/>
            </a:pPr>
            <a:r>
              <a:rPr lang="en-US" sz="1800" dirty="0">
                <a:solidFill>
                  <a:srgbClr val="0D1B2A"/>
                </a:solidFill>
                <a:latin typeface="Arial" pitchFamily="34" charset="0"/>
                <a:ea typeface="Arial" pitchFamily="34" charset="-122"/>
                <a:cs typeface="Arial" pitchFamily="34" charset="-120"/>
              </a:rPr>
              <a:t>Resolution: regridded to 2x2 degrees -- 10,800 nodes; 1-degree resolution produced &gt;99.99% short-range artifact edges</a:t>
            </a:r>
            <a:endParaRPr lang="en-US" sz="1800" dirty="0"/>
          </a:p>
        </p:txBody>
      </p:sp>
      <p:pic>
        <p:nvPicPr>
          <p:cNvPr id="17" name="Image 0" descr="/mnt/user-data/uploads/1779045406800_analysis_domain.png"/>
          <p:cNvPicPr>
            <a:picLocks noChangeAspect="1"/>
          </p:cNvPicPr>
          <p:nvPr/>
        </p:nvPicPr>
        <p:blipFill>
          <a:blip r:embed="rId3"/>
          <a:stretch>
            <a:fillRect/>
          </a:stretch>
        </p:blipFill>
        <p:spPr>
          <a:xfrm>
            <a:off x="749808" y="14502384"/>
            <a:ext cx="9128760" cy="2194560"/>
          </a:xfrm>
          <a:prstGeom prst="rect">
            <a:avLst/>
          </a:prstGeom>
        </p:spPr>
      </p:pic>
      <p:sp>
        <p:nvSpPr>
          <p:cNvPr id="18" name="Text 15"/>
          <p:cNvSpPr/>
          <p:nvPr/>
        </p:nvSpPr>
        <p:spPr>
          <a:xfrm>
            <a:off x="749808" y="16733520"/>
            <a:ext cx="9128760" cy="384048"/>
          </a:xfrm>
          <a:prstGeom prst="rect">
            <a:avLst/>
          </a:prstGeom>
          <a:noFill/>
          <a:ln/>
        </p:spPr>
        <p:txBody>
          <a:bodyPr wrap="square" rtlCol="0" anchor="ctr"/>
          <a:lstStyle/>
          <a:p>
            <a:pPr marL="0" indent="0" algn="ctr">
              <a:buNone/>
            </a:pPr>
            <a:r>
              <a:rPr lang="en-US" sz="1400" i="1" dirty="0">
                <a:solidFill>
                  <a:srgbClr val="2C3E50"/>
                </a:solidFill>
                <a:latin typeface="Arial" pitchFamily="34" charset="0"/>
                <a:ea typeface="Arial" pitchFamily="34" charset="-122"/>
                <a:cs typeface="Arial" pitchFamily="34" charset="-120"/>
              </a:rPr>
              <a:t>Fig. 1 -- Analysis domain: 60S to 60N, 10,800 nodes at 2x2 degree resolution.</a:t>
            </a:r>
            <a:endParaRPr lang="en-US" sz="1400" dirty="0"/>
          </a:p>
        </p:txBody>
      </p:sp>
      <p:sp>
        <p:nvSpPr>
          <p:cNvPr id="19" name="Shape 16"/>
          <p:cNvSpPr/>
          <p:nvPr/>
        </p:nvSpPr>
        <p:spPr>
          <a:xfrm>
            <a:off x="795528" y="18288105"/>
            <a:ext cx="9128760" cy="420624"/>
          </a:xfrm>
          <a:prstGeom prst="rect">
            <a:avLst/>
          </a:prstGeom>
          <a:solidFill>
            <a:srgbClr val="1B7F8E"/>
          </a:solidFill>
          <a:ln w="12700">
            <a:solidFill>
              <a:srgbClr val="1B7F8E"/>
            </a:solidFill>
            <a:prstDash val="solid"/>
          </a:ln>
        </p:spPr>
        <p:txBody>
          <a:bodyPr/>
          <a:lstStyle/>
          <a:p>
            <a:endParaRPr lang="tr-TR"/>
          </a:p>
        </p:txBody>
      </p:sp>
      <p:sp>
        <p:nvSpPr>
          <p:cNvPr id="20" name="Text 17"/>
          <p:cNvSpPr/>
          <p:nvPr/>
        </p:nvSpPr>
        <p:spPr>
          <a:xfrm>
            <a:off x="886968" y="18297885"/>
            <a:ext cx="8945880" cy="420624"/>
          </a:xfrm>
          <a:prstGeom prst="rect">
            <a:avLst/>
          </a:prstGeom>
          <a:noFill/>
          <a:ln/>
        </p:spPr>
        <p:txBody>
          <a:bodyPr wrap="square" lIns="0" tIns="0" rIns="0" bIns="0" rtlCol="0" anchor="ctr"/>
          <a:lstStyle/>
          <a:p>
            <a:pPr marL="0" indent="0">
              <a:buNone/>
            </a:pPr>
            <a:r>
              <a:rPr lang="en-US" sz="2300" b="1" dirty="0">
                <a:solidFill>
                  <a:srgbClr val="FFFFFF"/>
                </a:solidFill>
                <a:latin typeface="Arial" pitchFamily="34" charset="0"/>
                <a:ea typeface="Arial" pitchFamily="34" charset="-122"/>
                <a:cs typeface="Arial" pitchFamily="34" charset="-120"/>
              </a:rPr>
              <a:t>Methodology</a:t>
            </a:r>
            <a:endParaRPr lang="en-US" sz="2300" dirty="0"/>
          </a:p>
        </p:txBody>
      </p:sp>
      <p:sp>
        <p:nvSpPr>
          <p:cNvPr id="21" name="Text 18"/>
          <p:cNvSpPr/>
          <p:nvPr/>
        </p:nvSpPr>
        <p:spPr>
          <a:xfrm>
            <a:off x="749808" y="18900292"/>
            <a:ext cx="9128760" cy="13533120"/>
          </a:xfrm>
          <a:prstGeom prst="rect">
            <a:avLst/>
          </a:prstGeom>
          <a:noFill/>
          <a:ln/>
        </p:spPr>
        <p:txBody>
          <a:bodyPr wrap="square" rtlCol="0" anchor="t"/>
          <a:lstStyle/>
          <a:p>
            <a:pPr marL="0" indent="0">
              <a:buNone/>
            </a:pPr>
            <a:r>
              <a:rPr lang="en-US" sz="1700" b="1" dirty="0">
                <a:solidFill>
                  <a:srgbClr val="1B7F8E"/>
                </a:solidFill>
                <a:latin typeface="Arial" pitchFamily="34" charset="0"/>
                <a:ea typeface="Arial" pitchFamily="34" charset="-122"/>
                <a:cs typeface="Arial" pitchFamily="34" charset="-120"/>
              </a:rPr>
              <a:t>Step 1 — Extreme Event Definition</a:t>
            </a:r>
            <a:endParaRPr lang="en-US" sz="1700" dirty="0"/>
          </a:p>
          <a:p>
            <a:pPr marL="0" indent="0">
              <a:buNone/>
            </a:pPr>
            <a:r>
              <a:rPr lang="en-US" sz="1700" dirty="0">
                <a:solidFill>
                  <a:srgbClr val="0D1B2A"/>
                </a:solidFill>
                <a:latin typeface="Arial" pitchFamily="34" charset="0"/>
                <a:ea typeface="Arial" pitchFamily="34" charset="-122"/>
                <a:cs typeface="Arial" pitchFamily="34" charset="-120"/>
              </a:rPr>
              <a:t>For each grid cell independently, days are flagged as extreme when precipitation exceeds the local 90th percentile of that season's distribution. This produces a binary time series per location (1 = extreme day, 0 = normal day), with ~10% of days flagged everywhere -- making cross-location comparisons meaningful regardless of local climate regime.</a:t>
            </a:r>
            <a:endParaRPr lang="en-US" sz="1700" dirty="0"/>
          </a:p>
          <a:p>
            <a:pPr marL="0" indent="0">
              <a:buNone/>
            </a:pPr>
            <a:r>
              <a:rPr lang="en-US" sz="500" dirty="0">
                <a:solidFill>
                  <a:srgbClr val="0D1B2A"/>
                </a:solidFill>
                <a:latin typeface="Arial" pitchFamily="34" charset="0"/>
                <a:ea typeface="Arial" pitchFamily="34" charset="-122"/>
                <a:cs typeface="Arial" pitchFamily="34" charset="-120"/>
              </a:rPr>
              <a:t> </a:t>
            </a:r>
            <a:endParaRPr lang="en-US" sz="1700" dirty="0"/>
          </a:p>
          <a:p>
            <a:pPr marL="0" indent="0">
              <a:buNone/>
            </a:pPr>
            <a:r>
              <a:rPr lang="en-US" sz="1700" b="1" dirty="0">
                <a:solidFill>
                  <a:srgbClr val="1B7F8E"/>
                </a:solidFill>
                <a:latin typeface="Arial" pitchFamily="34" charset="0"/>
                <a:ea typeface="Arial" pitchFamily="34" charset="-122"/>
                <a:cs typeface="Arial" pitchFamily="34" charset="-120"/>
              </a:rPr>
              <a:t>Step 2 — Directional Event Synchronization (ES)</a:t>
            </a:r>
            <a:endParaRPr lang="en-US" sz="1700" dirty="0"/>
          </a:p>
          <a:p>
            <a:pPr marL="0" indent="0">
              <a:buNone/>
            </a:pPr>
            <a:r>
              <a:rPr lang="en-US" sz="1700" dirty="0">
                <a:solidFill>
                  <a:srgbClr val="0D1B2A"/>
                </a:solidFill>
                <a:latin typeface="Arial" pitchFamily="34" charset="0"/>
                <a:ea typeface="Arial" pitchFamily="34" charset="-122"/>
                <a:cs typeface="Arial" pitchFamily="34" charset="-120"/>
              </a:rPr>
              <a:t>ES measures whether extreme events at location i tend to precede those at j within a dynamic time window. For each directed pair (i → j), the score is:</a:t>
            </a:r>
            <a:endParaRPr lang="en-US" sz="1700" dirty="0"/>
          </a:p>
          <a:p>
            <a:pPr marL="0" indent="0">
              <a:buNone/>
            </a:pPr>
            <a:r>
              <a:rPr lang="en-US" sz="1700" b="1" dirty="0">
                <a:solidFill>
                  <a:srgbClr val="0D1B2A"/>
                </a:solidFill>
                <a:latin typeface="Arial" pitchFamily="34" charset="0"/>
                <a:ea typeface="Arial" pitchFamily="34" charset="-122"/>
                <a:cs typeface="Arial" pitchFamily="34" charset="-120"/>
              </a:rPr>
              <a:t>q(i→j)  =  c(j|i) / √(nᵢ × nⱼ)</a:t>
            </a:r>
            <a:endParaRPr lang="en-US" sz="1700" dirty="0"/>
          </a:p>
          <a:p>
            <a:pPr marL="0" indent="0">
              <a:buNone/>
            </a:pPr>
            <a:r>
              <a:rPr lang="en-US" sz="1700" dirty="0">
                <a:solidFill>
                  <a:srgbClr val="0D1B2A"/>
                </a:solidFill>
                <a:latin typeface="Arial" pitchFamily="34" charset="0"/>
                <a:ea typeface="Arial" pitchFamily="34" charset="-122"/>
                <a:cs typeface="Arial" pitchFamily="34" charset="-120"/>
              </a:rPr>
              <a:t>where c(j|i) counts how many extreme events at j are preceded by one at i within window τ = min(inter-event intervals at i and j) / 2. The window adapts to local event density: when events are frequent the window is narrow (avoiding spurious coincidences); when rare it expands (capturing slow-propagating signals). Scores range 0 to 1; higher values indicate stronger lagged synchronization.</a:t>
            </a:r>
            <a:endParaRPr lang="en-US" sz="1700" dirty="0"/>
          </a:p>
          <a:p>
            <a:pPr marL="0" indent="0">
              <a:buNone/>
            </a:pPr>
            <a:r>
              <a:rPr lang="en-US" sz="500" dirty="0">
                <a:solidFill>
                  <a:srgbClr val="0D1B2A"/>
                </a:solidFill>
                <a:latin typeface="Arial" pitchFamily="34" charset="0"/>
                <a:ea typeface="Arial" pitchFamily="34" charset="-122"/>
                <a:cs typeface="Arial" pitchFamily="34" charset="-120"/>
              </a:rPr>
              <a:t> </a:t>
            </a:r>
            <a:endParaRPr lang="en-US" sz="1700" dirty="0"/>
          </a:p>
          <a:p>
            <a:pPr marL="0" indent="0">
              <a:buNone/>
            </a:pPr>
            <a:r>
              <a:rPr lang="en-US" sz="1700" b="1" dirty="0">
                <a:solidFill>
                  <a:srgbClr val="1B7F8E"/>
                </a:solidFill>
                <a:latin typeface="Arial" pitchFamily="34" charset="0"/>
                <a:ea typeface="Arial" pitchFamily="34" charset="-122"/>
                <a:cs typeface="Arial" pitchFamily="34" charset="-120"/>
              </a:rPr>
              <a:t>Step 3 — Significance Thresholding via Surrogates</a:t>
            </a:r>
            <a:endParaRPr lang="en-US" sz="1700" dirty="0"/>
          </a:p>
          <a:p>
            <a:pPr marL="0" indent="0">
              <a:buNone/>
            </a:pPr>
            <a:r>
              <a:rPr lang="en-US" sz="1700" dirty="0">
                <a:solidFill>
                  <a:srgbClr val="0D1B2A"/>
                </a:solidFill>
                <a:latin typeface="Arial" pitchFamily="34" charset="0"/>
                <a:ea typeface="Arial" pitchFamily="34" charset="-122"/>
                <a:cs typeface="Arial" pitchFamily="34" charset="-120"/>
              </a:rPr>
              <a:t>Rather than applying an arbitrary score cutoff, significance is assessed by comparing each ES score against a null distribution built from surrogate data: event times are randomly shuffled 1,000 times (preserving event counts but destroying temporal structure), and ES scores are recomputed for 10,000 randomly sampled pairs per shuffle. Only edges where the observed ES score exceeds the 95th percentile of this null distribution (α=0.05) enter the final network -- ensuring every retained edge represents a genuine lagged relationship unlikely to arise by chance.</a:t>
            </a:r>
            <a:endParaRPr lang="en-US" sz="1700" dirty="0"/>
          </a:p>
          <a:p>
            <a:pPr marL="0" indent="0">
              <a:buNone/>
            </a:pPr>
            <a:r>
              <a:rPr lang="en-US" sz="500" dirty="0">
                <a:solidFill>
                  <a:srgbClr val="0D1B2A"/>
                </a:solidFill>
                <a:latin typeface="Arial" pitchFamily="34" charset="0"/>
                <a:ea typeface="Arial" pitchFamily="34" charset="-122"/>
                <a:cs typeface="Arial" pitchFamily="34" charset="-120"/>
              </a:rPr>
              <a:t> </a:t>
            </a:r>
            <a:endParaRPr lang="en-US" sz="1700" dirty="0"/>
          </a:p>
          <a:p>
            <a:pPr marL="0" indent="0">
              <a:buNone/>
            </a:pPr>
            <a:r>
              <a:rPr lang="en-US" sz="1700" b="1" dirty="0">
                <a:solidFill>
                  <a:srgbClr val="1B7F8E"/>
                </a:solidFill>
                <a:latin typeface="Arial" pitchFamily="34" charset="0"/>
                <a:ea typeface="Arial" pitchFamily="34" charset="-122"/>
                <a:cs typeface="Arial" pitchFamily="34" charset="-120"/>
              </a:rPr>
              <a:t>Step 4 — Directed Network Construction</a:t>
            </a:r>
            <a:endParaRPr lang="en-US" sz="1700" dirty="0"/>
          </a:p>
          <a:p>
            <a:pPr marL="0" indent="0">
              <a:buNone/>
            </a:pPr>
            <a:r>
              <a:rPr lang="en-US" sz="1700" dirty="0">
                <a:solidFill>
                  <a:srgbClr val="0D1B2A"/>
                </a:solidFill>
                <a:latin typeface="Arial" pitchFamily="34" charset="0"/>
                <a:ea typeface="Arial" pitchFamily="34" charset="-122"/>
                <a:cs typeface="Arial" pitchFamily="34" charset="-120"/>
              </a:rPr>
              <a:t>Significant directed edges are assembled into two weighted DiGraphs -- one per season. Each node carries geographic coordinates; each edge (i→j) carries its ES score as weight. This yields: DJF: 1,145,959 directed edges (threshold ES &gt; 0.1401) | JJA: 593,363 directed edges (threshold ES &gt; 0.1415). Out-degree and in-degree are computed separately per node, enabling identification of teleconnection sources vs receivers.</a:t>
            </a:r>
            <a:endParaRPr lang="en-US" sz="1700" dirty="0"/>
          </a:p>
        </p:txBody>
      </p:sp>
      <p:sp>
        <p:nvSpPr>
          <p:cNvPr id="22" name="Shape 19"/>
          <p:cNvSpPr/>
          <p:nvPr/>
        </p:nvSpPr>
        <p:spPr>
          <a:xfrm>
            <a:off x="809244" y="29580484"/>
            <a:ext cx="9128760" cy="6569901"/>
          </a:xfrm>
          <a:prstGeom prst="rect">
            <a:avLst/>
          </a:prstGeom>
          <a:solidFill>
            <a:srgbClr val="D4EEF2"/>
          </a:solidFill>
          <a:ln w="15240">
            <a:solidFill>
              <a:srgbClr val="1B7F8E"/>
            </a:solidFill>
            <a:prstDash val="solid"/>
          </a:ln>
        </p:spPr>
        <p:txBody>
          <a:bodyPr/>
          <a:lstStyle/>
          <a:p>
            <a:endParaRPr lang="tr-TR"/>
          </a:p>
        </p:txBody>
      </p:sp>
      <p:sp>
        <p:nvSpPr>
          <p:cNvPr id="23" name="Shape 20"/>
          <p:cNvSpPr/>
          <p:nvPr/>
        </p:nvSpPr>
        <p:spPr>
          <a:xfrm>
            <a:off x="722376" y="29548899"/>
            <a:ext cx="146304" cy="6569901"/>
          </a:xfrm>
          <a:prstGeom prst="rect">
            <a:avLst/>
          </a:prstGeom>
          <a:solidFill>
            <a:srgbClr val="1B7F8E"/>
          </a:solidFill>
          <a:ln w="12700">
            <a:solidFill>
              <a:srgbClr val="1B7F8E"/>
            </a:solidFill>
            <a:prstDash val="solid"/>
          </a:ln>
        </p:spPr>
        <p:txBody>
          <a:bodyPr/>
          <a:lstStyle/>
          <a:p>
            <a:endParaRPr lang="tr-TR"/>
          </a:p>
        </p:txBody>
      </p:sp>
      <p:sp>
        <p:nvSpPr>
          <p:cNvPr id="24" name="Text 21"/>
          <p:cNvSpPr/>
          <p:nvPr/>
        </p:nvSpPr>
        <p:spPr>
          <a:xfrm>
            <a:off x="950976" y="29698249"/>
            <a:ext cx="8817864" cy="329184"/>
          </a:xfrm>
          <a:prstGeom prst="rect">
            <a:avLst/>
          </a:prstGeom>
          <a:noFill/>
          <a:ln/>
        </p:spPr>
        <p:txBody>
          <a:bodyPr wrap="square" rtlCol="0" anchor="ctr"/>
          <a:lstStyle/>
          <a:p>
            <a:pPr marL="0" indent="0">
              <a:buNone/>
            </a:pPr>
            <a:r>
              <a:rPr lang="en-US" sz="1700" b="1" dirty="0">
                <a:solidFill>
                  <a:srgbClr val="1B7F8E"/>
                </a:solidFill>
                <a:latin typeface="Arial" pitchFamily="34" charset="0"/>
                <a:ea typeface="Arial" pitchFamily="34" charset="-122"/>
                <a:cs typeface="Arial" pitchFamily="34" charset="-120"/>
              </a:rPr>
              <a:t>Out-Degree: Teleconnection Sources</a:t>
            </a:r>
            <a:endParaRPr lang="en-US" sz="1700" dirty="0"/>
          </a:p>
        </p:txBody>
      </p:sp>
      <p:sp>
        <p:nvSpPr>
          <p:cNvPr id="25" name="Text 22"/>
          <p:cNvSpPr/>
          <p:nvPr/>
        </p:nvSpPr>
        <p:spPr>
          <a:xfrm>
            <a:off x="987552" y="30075094"/>
            <a:ext cx="8817864" cy="1143000"/>
          </a:xfrm>
          <a:prstGeom prst="rect">
            <a:avLst/>
          </a:prstGeom>
          <a:noFill/>
          <a:ln/>
        </p:spPr>
        <p:txBody>
          <a:bodyPr wrap="square" rtlCol="0" anchor="t"/>
          <a:lstStyle/>
          <a:p>
            <a:pPr marL="0" indent="0">
              <a:buNone/>
            </a:pPr>
            <a:r>
              <a:rPr lang="en-US" sz="1600" dirty="0">
                <a:solidFill>
                  <a:srgbClr val="0D1B2A"/>
                </a:solidFill>
                <a:latin typeface="Arial" pitchFamily="34" charset="0"/>
                <a:ea typeface="Arial" pitchFamily="34" charset="-122"/>
                <a:cs typeface="Arial" pitchFamily="34" charset="-120"/>
              </a:rPr>
              <a:t>The out-degree of a node i is the number of other locations that i significantly drives -- i.e. how many nodes have i as a teleconnection source. A node with high out-degree exports predictive influence to many distant locations.</a:t>
            </a:r>
            <a:endParaRPr lang="en-US" sz="1600" dirty="0"/>
          </a:p>
        </p:txBody>
      </p:sp>
      <p:sp>
        <p:nvSpPr>
          <p:cNvPr id="26" name="Text 23"/>
          <p:cNvSpPr/>
          <p:nvPr/>
        </p:nvSpPr>
        <p:spPr>
          <a:xfrm>
            <a:off x="978408" y="30977720"/>
            <a:ext cx="8817864" cy="329184"/>
          </a:xfrm>
          <a:prstGeom prst="rect">
            <a:avLst/>
          </a:prstGeom>
          <a:noFill/>
          <a:ln/>
        </p:spPr>
        <p:txBody>
          <a:bodyPr wrap="square" rtlCol="0" anchor="ctr"/>
          <a:lstStyle/>
          <a:p>
            <a:pPr marL="0" indent="0">
              <a:buNone/>
            </a:pPr>
            <a:r>
              <a:rPr lang="en-US" sz="1700" b="1" dirty="0">
                <a:solidFill>
                  <a:srgbClr val="1B7F8E"/>
                </a:solidFill>
                <a:latin typeface="Arial" pitchFamily="34" charset="0"/>
                <a:ea typeface="Arial" pitchFamily="34" charset="-122"/>
                <a:cs typeface="Arial" pitchFamily="34" charset="-120"/>
              </a:rPr>
              <a:t>In-Degree: Teleconnection Receivers</a:t>
            </a:r>
            <a:endParaRPr lang="en-US" sz="1700" dirty="0"/>
          </a:p>
        </p:txBody>
      </p:sp>
      <p:sp>
        <p:nvSpPr>
          <p:cNvPr id="27" name="Text 24"/>
          <p:cNvSpPr/>
          <p:nvPr/>
        </p:nvSpPr>
        <p:spPr>
          <a:xfrm>
            <a:off x="1014984" y="31471519"/>
            <a:ext cx="8817864" cy="1005840"/>
          </a:xfrm>
          <a:prstGeom prst="rect">
            <a:avLst/>
          </a:prstGeom>
          <a:noFill/>
          <a:ln/>
        </p:spPr>
        <p:txBody>
          <a:bodyPr wrap="square" rtlCol="0" anchor="t"/>
          <a:lstStyle/>
          <a:p>
            <a:pPr marL="0" indent="0">
              <a:buNone/>
            </a:pPr>
            <a:r>
              <a:rPr lang="en-US" sz="1600" dirty="0">
                <a:solidFill>
                  <a:srgbClr val="0D1B2A"/>
                </a:solidFill>
                <a:latin typeface="Arial" pitchFamily="34" charset="0"/>
                <a:ea typeface="Arial" pitchFamily="34" charset="-122"/>
                <a:cs typeface="Arial" pitchFamily="34" charset="-120"/>
              </a:rPr>
              <a:t>The in-degree of a node i is the number of locations that significantly drive i. High in-degree nodes are teleconnection receivers, influenced by upstream atmospheric signals.</a:t>
            </a:r>
            <a:endParaRPr lang="en-US" sz="1600" dirty="0"/>
          </a:p>
        </p:txBody>
      </p:sp>
      <p:sp>
        <p:nvSpPr>
          <p:cNvPr id="28" name="Text 25"/>
          <p:cNvSpPr/>
          <p:nvPr/>
        </p:nvSpPr>
        <p:spPr>
          <a:xfrm>
            <a:off x="987552" y="32224333"/>
            <a:ext cx="8817864" cy="329184"/>
          </a:xfrm>
          <a:prstGeom prst="rect">
            <a:avLst/>
          </a:prstGeom>
          <a:noFill/>
          <a:ln/>
        </p:spPr>
        <p:txBody>
          <a:bodyPr wrap="square" rtlCol="0" anchor="ctr"/>
          <a:lstStyle/>
          <a:p>
            <a:pPr marL="0" indent="0">
              <a:buNone/>
            </a:pPr>
            <a:r>
              <a:rPr lang="en-US" sz="1700" b="1" dirty="0">
                <a:solidFill>
                  <a:srgbClr val="1B7F8E"/>
                </a:solidFill>
                <a:latin typeface="Arial" pitchFamily="34" charset="0"/>
                <a:ea typeface="Arial" pitchFamily="34" charset="-122"/>
                <a:cs typeface="Arial" pitchFamily="34" charset="-120"/>
              </a:rPr>
              <a:t>Hub Definition</a:t>
            </a:r>
            <a:endParaRPr lang="en-US" sz="1700" dirty="0"/>
          </a:p>
        </p:txBody>
      </p:sp>
      <p:sp>
        <p:nvSpPr>
          <p:cNvPr id="29" name="Text 26"/>
          <p:cNvSpPr/>
          <p:nvPr/>
        </p:nvSpPr>
        <p:spPr>
          <a:xfrm>
            <a:off x="1024128" y="32644957"/>
            <a:ext cx="8817864" cy="1371600"/>
          </a:xfrm>
          <a:prstGeom prst="rect">
            <a:avLst/>
          </a:prstGeom>
          <a:noFill/>
          <a:ln/>
        </p:spPr>
        <p:txBody>
          <a:bodyPr wrap="square" rtlCol="0" anchor="t"/>
          <a:lstStyle/>
          <a:p>
            <a:pPr marL="0" indent="0">
              <a:buNone/>
            </a:pPr>
            <a:r>
              <a:rPr lang="en-US" sz="1600" dirty="0">
                <a:solidFill>
                  <a:srgbClr val="0D1B2A"/>
                </a:solidFill>
                <a:latin typeface="Arial" pitchFamily="34" charset="0"/>
                <a:ea typeface="Arial" pitchFamily="34" charset="-122"/>
                <a:cs typeface="Arial" pitchFamily="34" charset="-120"/>
              </a:rPr>
              <a:t>Hubs are nodes in the top 5% of out-degree distribution -- grid cells that significantly drive extreme precipitation synchronization in the greatest number of other locations (n=540 of 10,800 nodes). Hubs are identified independently per season, enabling direct seasonal comparison of their geographic positions.</a:t>
            </a:r>
            <a:endParaRPr lang="en-US" sz="1600" dirty="0"/>
          </a:p>
        </p:txBody>
      </p:sp>
      <p:sp>
        <p:nvSpPr>
          <p:cNvPr id="30" name="Text 27"/>
          <p:cNvSpPr/>
          <p:nvPr/>
        </p:nvSpPr>
        <p:spPr>
          <a:xfrm>
            <a:off x="987552" y="33888541"/>
            <a:ext cx="8817864" cy="329184"/>
          </a:xfrm>
          <a:prstGeom prst="rect">
            <a:avLst/>
          </a:prstGeom>
          <a:noFill/>
          <a:ln/>
        </p:spPr>
        <p:txBody>
          <a:bodyPr wrap="square" rtlCol="0" anchor="ctr"/>
          <a:lstStyle/>
          <a:p>
            <a:pPr marL="0" indent="0">
              <a:buNone/>
            </a:pPr>
            <a:r>
              <a:rPr lang="en-US" sz="1700" b="1" dirty="0">
                <a:solidFill>
                  <a:srgbClr val="1B7F8E"/>
                </a:solidFill>
                <a:latin typeface="Arial" pitchFamily="34" charset="0"/>
                <a:ea typeface="Arial" pitchFamily="34" charset="-122"/>
                <a:cs typeface="Arial" pitchFamily="34" charset="-120"/>
              </a:rPr>
              <a:t>Why Out-Degree for Hub Identification?</a:t>
            </a:r>
            <a:endParaRPr lang="en-US" sz="1700" dirty="0"/>
          </a:p>
        </p:txBody>
      </p:sp>
      <p:sp>
        <p:nvSpPr>
          <p:cNvPr id="31" name="Text 28"/>
          <p:cNvSpPr/>
          <p:nvPr/>
        </p:nvSpPr>
        <p:spPr>
          <a:xfrm>
            <a:off x="1069848" y="34352168"/>
            <a:ext cx="8817864" cy="585216"/>
          </a:xfrm>
          <a:prstGeom prst="rect">
            <a:avLst/>
          </a:prstGeom>
          <a:noFill/>
          <a:ln/>
        </p:spPr>
        <p:txBody>
          <a:bodyPr wrap="square" rtlCol="0" anchor="t"/>
          <a:lstStyle/>
          <a:p>
            <a:pPr marL="0" indent="0">
              <a:buNone/>
            </a:pPr>
            <a:r>
              <a:rPr lang="en-US" sz="1600" dirty="0">
                <a:solidFill>
                  <a:srgbClr val="0D1B2A"/>
                </a:solidFill>
                <a:latin typeface="Arial" pitchFamily="34" charset="0"/>
                <a:ea typeface="Arial" pitchFamily="34" charset="-122"/>
                <a:cs typeface="Arial" pitchFamily="34" charset="-120"/>
              </a:rPr>
              <a:t>In this network, in/out-degree correlation r=0.9875 -- nearly symmetric at daily resolution, meaning most hubs are simultaneously strong sources and receivers. Despite this symmetry, out-degree is used because it directly captures which regions export predictive influence to others -- the physically most interpretable definition of a teleconnection source and the most relevant quantity for seasonal comparison.</a:t>
            </a:r>
            <a:endParaRPr lang="en-US" sz="1600" dirty="0"/>
          </a:p>
        </p:txBody>
      </p:sp>
      <p:sp>
        <p:nvSpPr>
          <p:cNvPr id="32" name="Shape 29"/>
          <p:cNvSpPr/>
          <p:nvPr/>
        </p:nvSpPr>
        <p:spPr>
          <a:xfrm>
            <a:off x="10573512" y="3264408"/>
            <a:ext cx="9128760" cy="420624"/>
          </a:xfrm>
          <a:prstGeom prst="rect">
            <a:avLst/>
          </a:prstGeom>
          <a:solidFill>
            <a:srgbClr val="1B7F8E"/>
          </a:solidFill>
          <a:ln w="12700">
            <a:solidFill>
              <a:srgbClr val="1B7F8E"/>
            </a:solidFill>
            <a:prstDash val="solid"/>
          </a:ln>
        </p:spPr>
        <p:txBody>
          <a:bodyPr/>
          <a:lstStyle/>
          <a:p>
            <a:endParaRPr lang="tr-TR"/>
          </a:p>
        </p:txBody>
      </p:sp>
      <p:sp>
        <p:nvSpPr>
          <p:cNvPr id="33" name="Text 30"/>
          <p:cNvSpPr/>
          <p:nvPr/>
        </p:nvSpPr>
        <p:spPr>
          <a:xfrm>
            <a:off x="10664952" y="3264408"/>
            <a:ext cx="8945880" cy="420624"/>
          </a:xfrm>
          <a:prstGeom prst="rect">
            <a:avLst/>
          </a:prstGeom>
          <a:noFill/>
          <a:ln/>
        </p:spPr>
        <p:txBody>
          <a:bodyPr wrap="square" lIns="0" tIns="0" rIns="0" bIns="0" rtlCol="0" anchor="ctr"/>
          <a:lstStyle/>
          <a:p>
            <a:pPr marL="0" indent="0">
              <a:buNone/>
            </a:pPr>
            <a:r>
              <a:rPr lang="en-US" sz="2300" b="1" dirty="0">
                <a:solidFill>
                  <a:srgbClr val="FFFFFF"/>
                </a:solidFill>
                <a:latin typeface="Arial" pitchFamily="34" charset="0"/>
                <a:ea typeface="Arial" pitchFamily="34" charset="-122"/>
                <a:cs typeface="Arial" pitchFamily="34" charset="-120"/>
              </a:rPr>
              <a:t>H1 -- Winter Connectivity Dominates</a:t>
            </a:r>
            <a:endParaRPr lang="en-US" sz="2300" dirty="0"/>
          </a:p>
        </p:txBody>
      </p:sp>
      <p:sp>
        <p:nvSpPr>
          <p:cNvPr id="34" name="Shape 31"/>
          <p:cNvSpPr/>
          <p:nvPr/>
        </p:nvSpPr>
        <p:spPr>
          <a:xfrm>
            <a:off x="10573512" y="3831336"/>
            <a:ext cx="4495800" cy="1554480"/>
          </a:xfrm>
          <a:prstGeom prst="rect">
            <a:avLst/>
          </a:prstGeom>
          <a:solidFill>
            <a:srgbClr val="0D1B2A"/>
          </a:solidFill>
          <a:ln w="12700">
            <a:solidFill>
              <a:srgbClr val="0D1B2A"/>
            </a:solidFill>
            <a:prstDash val="solid"/>
          </a:ln>
        </p:spPr>
        <p:txBody>
          <a:bodyPr/>
          <a:lstStyle/>
          <a:p>
            <a:endParaRPr lang="tr-TR"/>
          </a:p>
        </p:txBody>
      </p:sp>
      <p:sp>
        <p:nvSpPr>
          <p:cNvPr id="35" name="Text 32"/>
          <p:cNvSpPr/>
          <p:nvPr/>
        </p:nvSpPr>
        <p:spPr>
          <a:xfrm>
            <a:off x="10646664" y="3904488"/>
            <a:ext cx="4349496" cy="1408176"/>
          </a:xfrm>
          <a:prstGeom prst="rect">
            <a:avLst/>
          </a:prstGeom>
          <a:noFill/>
          <a:ln/>
        </p:spPr>
        <p:txBody>
          <a:bodyPr wrap="square" lIns="0" tIns="0" rIns="0" bIns="0" rtlCol="0" anchor="ctr"/>
          <a:lstStyle/>
          <a:p>
            <a:pPr marL="0" indent="0" algn="ctr">
              <a:buNone/>
            </a:pPr>
            <a:r>
              <a:rPr lang="en-US" sz="6000" b="1" dirty="0">
                <a:solidFill>
                  <a:srgbClr val="E8A838"/>
                </a:solidFill>
              </a:rPr>
              <a:t>93%</a:t>
            </a:r>
            <a:endParaRPr lang="en-US" sz="6000" dirty="0"/>
          </a:p>
          <a:p>
            <a:pPr marL="0" indent="0" algn="ctr">
              <a:buNone/>
            </a:pPr>
            <a:r>
              <a:rPr lang="en-US" sz="1600" dirty="0">
                <a:solidFill>
                  <a:srgbClr val="FFFFFF"/>
                </a:solidFill>
              </a:rPr>
              <a:t>more directed edges</a:t>
            </a:r>
            <a:endParaRPr lang="en-US" sz="6000" dirty="0"/>
          </a:p>
          <a:p>
            <a:pPr marL="0" indent="0" algn="ctr">
              <a:buNone/>
            </a:pPr>
            <a:r>
              <a:rPr lang="en-US" sz="1600" dirty="0">
                <a:solidFill>
                  <a:srgbClr val="FFFFFF"/>
                </a:solidFill>
              </a:rPr>
              <a:t>DJF vs JJA</a:t>
            </a:r>
            <a:endParaRPr lang="en-US" sz="6000" dirty="0"/>
          </a:p>
        </p:txBody>
      </p:sp>
      <p:sp>
        <p:nvSpPr>
          <p:cNvPr id="36" name="Shape 33"/>
          <p:cNvSpPr/>
          <p:nvPr/>
        </p:nvSpPr>
        <p:spPr>
          <a:xfrm>
            <a:off x="15206472" y="3831336"/>
            <a:ext cx="4495800" cy="1554480"/>
          </a:xfrm>
          <a:prstGeom prst="rect">
            <a:avLst/>
          </a:prstGeom>
          <a:solidFill>
            <a:srgbClr val="1B7F8E"/>
          </a:solidFill>
          <a:ln w="12700">
            <a:solidFill>
              <a:srgbClr val="1B7F8E"/>
            </a:solidFill>
            <a:prstDash val="solid"/>
          </a:ln>
        </p:spPr>
        <p:txBody>
          <a:bodyPr/>
          <a:lstStyle/>
          <a:p>
            <a:endParaRPr lang="tr-TR"/>
          </a:p>
        </p:txBody>
      </p:sp>
      <p:sp>
        <p:nvSpPr>
          <p:cNvPr id="37" name="Text 34"/>
          <p:cNvSpPr/>
          <p:nvPr/>
        </p:nvSpPr>
        <p:spPr>
          <a:xfrm>
            <a:off x="15279624" y="3904488"/>
            <a:ext cx="4349496" cy="1408176"/>
          </a:xfrm>
          <a:prstGeom prst="rect">
            <a:avLst/>
          </a:prstGeom>
          <a:noFill/>
          <a:ln/>
        </p:spPr>
        <p:txBody>
          <a:bodyPr wrap="square" lIns="0" tIns="0" rIns="0" bIns="0" rtlCol="0" anchor="ctr"/>
          <a:lstStyle/>
          <a:p>
            <a:pPr marL="0" indent="0" algn="ctr">
              <a:buNone/>
            </a:pPr>
            <a:r>
              <a:rPr lang="en-US" sz="3800" b="1" dirty="0">
                <a:solidFill>
                  <a:srgbClr val="FFFFFF"/>
                </a:solidFill>
              </a:rPr>
              <a:t>p &lt; 0.001</a:t>
            </a:r>
            <a:endParaRPr lang="en-US" sz="3800" dirty="0"/>
          </a:p>
          <a:p>
            <a:pPr marL="0" indent="0" algn="ctr">
              <a:buNone/>
            </a:pPr>
            <a:r>
              <a:rPr lang="en-US" sz="1500" dirty="0">
                <a:solidFill>
                  <a:srgbClr val="D4EEF2"/>
                </a:solidFill>
              </a:rPr>
              <a:t>permutation test</a:t>
            </a:r>
            <a:endParaRPr lang="en-US" sz="3800" dirty="0"/>
          </a:p>
          <a:p>
            <a:pPr marL="0" indent="0" algn="ctr">
              <a:buNone/>
            </a:pPr>
            <a:r>
              <a:rPr lang="en-US" sz="1500" dirty="0">
                <a:solidFill>
                  <a:srgbClr val="D4EEF2"/>
                </a:solidFill>
              </a:rPr>
              <a:t>0/1000 exceeded observed</a:t>
            </a:r>
            <a:endParaRPr lang="en-US" sz="3800" dirty="0"/>
          </a:p>
        </p:txBody>
      </p:sp>
      <p:pic>
        <p:nvPicPr>
          <p:cNvPr id="38" name="Image 1" descr="/mnt/user-data/uploads/1779045406801_h1_permutation_test.png"/>
          <p:cNvPicPr>
            <a:picLocks noChangeAspect="1"/>
          </p:cNvPicPr>
          <p:nvPr/>
        </p:nvPicPr>
        <p:blipFill>
          <a:blip r:embed="rId4"/>
          <a:stretch>
            <a:fillRect/>
          </a:stretch>
        </p:blipFill>
        <p:spPr>
          <a:xfrm>
            <a:off x="10610088" y="6415809"/>
            <a:ext cx="9128760" cy="6713563"/>
          </a:xfrm>
          <a:prstGeom prst="rect">
            <a:avLst/>
          </a:prstGeom>
        </p:spPr>
      </p:pic>
      <p:sp>
        <p:nvSpPr>
          <p:cNvPr id="39" name="Text 35"/>
          <p:cNvSpPr/>
          <p:nvPr/>
        </p:nvSpPr>
        <p:spPr>
          <a:xfrm>
            <a:off x="10573512" y="13295251"/>
            <a:ext cx="9128760" cy="384048"/>
          </a:xfrm>
          <a:prstGeom prst="rect">
            <a:avLst/>
          </a:prstGeom>
          <a:noFill/>
          <a:ln/>
        </p:spPr>
        <p:txBody>
          <a:bodyPr wrap="square" rtlCol="0" anchor="ctr"/>
          <a:lstStyle/>
          <a:p>
            <a:pPr marL="0" indent="0" algn="ctr">
              <a:buNone/>
            </a:pPr>
            <a:r>
              <a:rPr lang="en-US" sz="1400" i="1" dirty="0">
                <a:solidFill>
                  <a:srgbClr val="2C3E50"/>
                </a:solidFill>
                <a:latin typeface="Arial" pitchFamily="34" charset="0"/>
                <a:ea typeface="Arial" pitchFamily="34" charset="-122"/>
                <a:cs typeface="Arial" pitchFamily="34" charset="-120"/>
              </a:rPr>
              <a:t>Fig. 2 -- Permutation test: observed difference (51.2) lies entirely outside the null distribution of 1,000 permutations (p&lt;0.001).</a:t>
            </a:r>
            <a:endParaRPr lang="en-US" sz="1400" dirty="0"/>
          </a:p>
        </p:txBody>
      </p:sp>
      <p:sp>
        <p:nvSpPr>
          <p:cNvPr id="40" name="Shape 36"/>
          <p:cNvSpPr/>
          <p:nvPr/>
        </p:nvSpPr>
        <p:spPr>
          <a:xfrm>
            <a:off x="10610088" y="14167215"/>
            <a:ext cx="9128760" cy="2694310"/>
          </a:xfrm>
          <a:prstGeom prst="rect">
            <a:avLst/>
          </a:prstGeom>
          <a:solidFill>
            <a:srgbClr val="EBF5FB"/>
          </a:solidFill>
          <a:ln w="10160">
            <a:solidFill>
              <a:srgbClr val="2E86AB"/>
            </a:solidFill>
            <a:prstDash val="solid"/>
          </a:ln>
        </p:spPr>
        <p:txBody>
          <a:bodyPr/>
          <a:lstStyle/>
          <a:p>
            <a:endParaRPr lang="tr-TR"/>
          </a:p>
        </p:txBody>
      </p:sp>
      <p:sp>
        <p:nvSpPr>
          <p:cNvPr id="41" name="Shape 37"/>
          <p:cNvSpPr/>
          <p:nvPr/>
        </p:nvSpPr>
        <p:spPr>
          <a:xfrm>
            <a:off x="10573512" y="14203792"/>
            <a:ext cx="91440" cy="2694310"/>
          </a:xfrm>
          <a:prstGeom prst="rect">
            <a:avLst/>
          </a:prstGeom>
          <a:solidFill>
            <a:srgbClr val="2E86AB"/>
          </a:solidFill>
          <a:ln w="12700">
            <a:solidFill>
              <a:srgbClr val="2E86AB"/>
            </a:solidFill>
            <a:prstDash val="solid"/>
          </a:ln>
        </p:spPr>
        <p:txBody>
          <a:bodyPr/>
          <a:lstStyle/>
          <a:p>
            <a:endParaRPr lang="tr-TR"/>
          </a:p>
        </p:txBody>
      </p:sp>
      <p:sp>
        <p:nvSpPr>
          <p:cNvPr id="42" name="Text 38"/>
          <p:cNvSpPr/>
          <p:nvPr/>
        </p:nvSpPr>
        <p:spPr>
          <a:xfrm>
            <a:off x="10738104" y="14276944"/>
            <a:ext cx="8872728" cy="2548006"/>
          </a:xfrm>
          <a:prstGeom prst="rect">
            <a:avLst/>
          </a:prstGeom>
          <a:noFill/>
          <a:ln/>
        </p:spPr>
        <p:txBody>
          <a:bodyPr wrap="square" rtlCol="0" anchor="ctr"/>
          <a:lstStyle/>
          <a:p>
            <a:pPr marL="0" indent="0">
              <a:buNone/>
            </a:pPr>
            <a:r>
              <a:rPr lang="en-US" sz="1600" dirty="0">
                <a:solidFill>
                  <a:srgbClr val="0D1B2A"/>
                </a:solidFill>
                <a:latin typeface="Arial" pitchFamily="34" charset="0"/>
                <a:ea typeface="Arial" pitchFamily="34" charset="-122"/>
                <a:cs typeface="Arial" pitchFamily="34" charset="-120"/>
              </a:rPr>
              <a:t>The null distribution (bell curve) shows what seasonal differences look like by chance. The observed DJF-JJA mean out-degree difference (51.2, solid line) falls entirely outside -- zero of 1,000 permutations exceed it. DJF networks are fundamentally more connected than JJA.</a:t>
            </a:r>
            <a:endParaRPr lang="en-US" sz="1600" dirty="0"/>
          </a:p>
        </p:txBody>
      </p:sp>
      <p:sp>
        <p:nvSpPr>
          <p:cNvPr id="43" name="Shape 39"/>
          <p:cNvSpPr/>
          <p:nvPr/>
        </p:nvSpPr>
        <p:spPr>
          <a:xfrm>
            <a:off x="10573512" y="16971254"/>
            <a:ext cx="9128760" cy="420624"/>
          </a:xfrm>
          <a:prstGeom prst="rect">
            <a:avLst/>
          </a:prstGeom>
          <a:solidFill>
            <a:srgbClr val="1B7F8E"/>
          </a:solidFill>
          <a:ln w="12700">
            <a:solidFill>
              <a:srgbClr val="1B7F8E"/>
            </a:solidFill>
            <a:prstDash val="solid"/>
          </a:ln>
        </p:spPr>
        <p:txBody>
          <a:bodyPr/>
          <a:lstStyle/>
          <a:p>
            <a:endParaRPr lang="tr-TR"/>
          </a:p>
        </p:txBody>
      </p:sp>
      <p:sp>
        <p:nvSpPr>
          <p:cNvPr id="44" name="Text 40"/>
          <p:cNvSpPr/>
          <p:nvPr/>
        </p:nvSpPr>
        <p:spPr>
          <a:xfrm>
            <a:off x="10664952" y="16971254"/>
            <a:ext cx="8945880" cy="420624"/>
          </a:xfrm>
          <a:prstGeom prst="rect">
            <a:avLst/>
          </a:prstGeom>
          <a:noFill/>
          <a:ln/>
        </p:spPr>
        <p:txBody>
          <a:bodyPr wrap="square" lIns="0" tIns="0" rIns="0" bIns="0" rtlCol="0" anchor="ctr"/>
          <a:lstStyle/>
          <a:p>
            <a:pPr marL="0" indent="0">
              <a:buNone/>
            </a:pPr>
            <a:r>
              <a:rPr lang="en-US" sz="2300" b="1" dirty="0">
                <a:solidFill>
                  <a:srgbClr val="FFFFFF"/>
                </a:solidFill>
                <a:latin typeface="Arial" pitchFamily="34" charset="0"/>
                <a:ea typeface="Arial" pitchFamily="34" charset="-122"/>
                <a:cs typeface="Arial" pitchFamily="34" charset="-120"/>
              </a:rPr>
              <a:t>H2 -- Hub Regions Shift Geographically</a:t>
            </a:r>
            <a:endParaRPr lang="en-US" sz="2300" dirty="0"/>
          </a:p>
        </p:txBody>
      </p:sp>
      <p:pic>
        <p:nvPicPr>
          <p:cNvPr id="45" name="Image 2" descr="/mnt/user-data/uploads/1779045406802_h2_hub_maps.png"/>
          <p:cNvPicPr>
            <a:picLocks noChangeAspect="1"/>
          </p:cNvPicPr>
          <p:nvPr/>
        </p:nvPicPr>
        <p:blipFill>
          <a:blip r:embed="rId5"/>
          <a:stretch>
            <a:fillRect/>
          </a:stretch>
        </p:blipFill>
        <p:spPr>
          <a:xfrm>
            <a:off x="10573512" y="17538182"/>
            <a:ext cx="9128760" cy="5710338"/>
          </a:xfrm>
          <a:prstGeom prst="rect">
            <a:avLst/>
          </a:prstGeom>
        </p:spPr>
      </p:pic>
      <p:sp>
        <p:nvSpPr>
          <p:cNvPr id="46" name="Text 41"/>
          <p:cNvSpPr/>
          <p:nvPr/>
        </p:nvSpPr>
        <p:spPr>
          <a:xfrm>
            <a:off x="10573512" y="23285096"/>
            <a:ext cx="9128760" cy="384048"/>
          </a:xfrm>
          <a:prstGeom prst="rect">
            <a:avLst/>
          </a:prstGeom>
          <a:noFill/>
          <a:ln/>
        </p:spPr>
        <p:txBody>
          <a:bodyPr wrap="square" rtlCol="0" anchor="ctr"/>
          <a:lstStyle/>
          <a:p>
            <a:pPr marL="0" indent="0" algn="ctr">
              <a:buNone/>
            </a:pPr>
            <a:r>
              <a:rPr lang="en-US" sz="1400" i="1" dirty="0">
                <a:solidFill>
                  <a:srgbClr val="2C3E50"/>
                </a:solidFill>
                <a:latin typeface="Arial" pitchFamily="34" charset="0"/>
                <a:ea typeface="Arial" pitchFamily="34" charset="-122"/>
                <a:cs typeface="Arial" pitchFamily="34" charset="-120"/>
              </a:rPr>
              <a:t>Fig. 3 -- Out-degree centrality: DJF (left) and JJA (right). Black stars = hub nodes (top 5%, n=540). NH storm track hubs emerge exclusively in DJF.</a:t>
            </a:r>
            <a:endParaRPr lang="en-US" sz="1400" dirty="0"/>
          </a:p>
        </p:txBody>
      </p:sp>
      <p:sp>
        <p:nvSpPr>
          <p:cNvPr id="47" name="Shape 42"/>
          <p:cNvSpPr/>
          <p:nvPr/>
        </p:nvSpPr>
        <p:spPr>
          <a:xfrm>
            <a:off x="10573512" y="23742296"/>
            <a:ext cx="9128760" cy="2694310"/>
          </a:xfrm>
          <a:prstGeom prst="rect">
            <a:avLst/>
          </a:prstGeom>
          <a:solidFill>
            <a:srgbClr val="EBF5FB"/>
          </a:solidFill>
          <a:ln w="10160">
            <a:solidFill>
              <a:srgbClr val="2E86AB"/>
            </a:solidFill>
            <a:prstDash val="solid"/>
          </a:ln>
        </p:spPr>
        <p:txBody>
          <a:bodyPr/>
          <a:lstStyle/>
          <a:p>
            <a:endParaRPr lang="tr-TR"/>
          </a:p>
        </p:txBody>
      </p:sp>
      <p:sp>
        <p:nvSpPr>
          <p:cNvPr id="48" name="Shape 43"/>
          <p:cNvSpPr/>
          <p:nvPr/>
        </p:nvSpPr>
        <p:spPr>
          <a:xfrm>
            <a:off x="10573512" y="23742296"/>
            <a:ext cx="91440" cy="2694310"/>
          </a:xfrm>
          <a:prstGeom prst="rect">
            <a:avLst/>
          </a:prstGeom>
          <a:solidFill>
            <a:srgbClr val="2E86AB"/>
          </a:solidFill>
          <a:ln w="12700">
            <a:solidFill>
              <a:srgbClr val="2E86AB"/>
            </a:solidFill>
            <a:prstDash val="solid"/>
          </a:ln>
        </p:spPr>
        <p:txBody>
          <a:bodyPr/>
          <a:lstStyle/>
          <a:p>
            <a:endParaRPr lang="tr-TR"/>
          </a:p>
        </p:txBody>
      </p:sp>
      <p:sp>
        <p:nvSpPr>
          <p:cNvPr id="49" name="Text 44"/>
          <p:cNvSpPr/>
          <p:nvPr/>
        </p:nvSpPr>
        <p:spPr>
          <a:xfrm>
            <a:off x="10738104" y="23815448"/>
            <a:ext cx="8872728" cy="2548006"/>
          </a:xfrm>
          <a:prstGeom prst="rect">
            <a:avLst/>
          </a:prstGeom>
          <a:noFill/>
          <a:ln/>
        </p:spPr>
        <p:txBody>
          <a:bodyPr wrap="square" rtlCol="0" anchor="ctr"/>
          <a:lstStyle/>
          <a:p>
            <a:pPr marL="0" indent="0">
              <a:buNone/>
            </a:pPr>
            <a:r>
              <a:rPr lang="en-US" sz="1600" dirty="0">
                <a:solidFill>
                  <a:srgbClr val="0D1B2A"/>
                </a:solidFill>
                <a:latin typeface="Arial" pitchFamily="34" charset="0"/>
                <a:ea typeface="Arial" pitchFamily="34" charset="-122"/>
                <a:cs typeface="Arial" pitchFamily="34" charset="-120"/>
              </a:rPr>
              <a:t>The YlOrRd heatmap shows out-degree centrality (red = highest). In DJF, intense red bands appear across the N. Atlantic and N. Pacific storm tracks -- entirely absent in JJA. Both seasons show a persistent Southern Ocean band. Hub stars confirm these as the primary teleconnection source regions.</a:t>
            </a:r>
            <a:r>
              <a:rPr lang="tr-TR" sz="1600" dirty="0">
                <a:solidFill>
                  <a:srgbClr val="0D1B2A"/>
                </a:solidFill>
                <a:latin typeface="Arial" pitchFamily="34" charset="0"/>
                <a:ea typeface="Arial" pitchFamily="34" charset="-122"/>
                <a:cs typeface="Arial" pitchFamily="34" charset="-120"/>
              </a:rPr>
              <a:t> </a:t>
            </a:r>
            <a:r>
              <a:rPr lang="tr-TR" sz="1600" dirty="0" err="1">
                <a:solidFill>
                  <a:srgbClr val="0D1B2A"/>
                </a:solidFill>
                <a:latin typeface="Arial" pitchFamily="34" charset="0"/>
                <a:ea typeface="Arial" pitchFamily="34" charset="-122"/>
                <a:cs typeface="Arial" pitchFamily="34" charset="-120"/>
              </a:rPr>
              <a:t>Note</a:t>
            </a:r>
            <a:r>
              <a:rPr lang="tr-TR" sz="1600" dirty="0">
                <a:solidFill>
                  <a:srgbClr val="0D1B2A"/>
                </a:solidFill>
                <a:latin typeface="Arial" pitchFamily="34" charset="0"/>
                <a:ea typeface="Arial" pitchFamily="34" charset="-122"/>
                <a:cs typeface="Arial" pitchFamily="34" charset="-120"/>
              </a:rPr>
              <a:t> </a:t>
            </a:r>
            <a:r>
              <a:rPr lang="tr-TR" sz="1600" dirty="0" err="1">
                <a:solidFill>
                  <a:srgbClr val="0D1B2A"/>
                </a:solidFill>
                <a:latin typeface="Arial" pitchFamily="34" charset="0"/>
                <a:ea typeface="Arial" pitchFamily="34" charset="-122"/>
                <a:cs typeface="Arial" pitchFamily="34" charset="-120"/>
              </a:rPr>
              <a:t>that</a:t>
            </a:r>
            <a:r>
              <a:rPr lang="tr-TR" sz="1600" dirty="0">
                <a:solidFill>
                  <a:srgbClr val="0D1B2A"/>
                </a:solidFill>
                <a:latin typeface="Arial" pitchFamily="34" charset="0"/>
                <a:ea typeface="Arial" pitchFamily="34" charset="-122"/>
                <a:cs typeface="Arial" pitchFamily="34" charset="-120"/>
              </a:rPr>
              <a:t> </a:t>
            </a:r>
            <a:r>
              <a:rPr lang="tr-TR" sz="1600" dirty="0" err="1">
                <a:solidFill>
                  <a:srgbClr val="0D1B2A"/>
                </a:solidFill>
                <a:latin typeface="Arial" pitchFamily="34" charset="0"/>
                <a:ea typeface="Arial" pitchFamily="34" charset="-122"/>
                <a:cs typeface="Arial" pitchFamily="34" charset="-120"/>
              </a:rPr>
              <a:t>rather</a:t>
            </a:r>
            <a:r>
              <a:rPr lang="tr-TR" sz="1600" dirty="0">
                <a:solidFill>
                  <a:srgbClr val="0D1B2A"/>
                </a:solidFill>
                <a:latin typeface="Arial" pitchFamily="34" charset="0"/>
                <a:ea typeface="Arial" pitchFamily="34" charset="-122"/>
                <a:cs typeface="Arial" pitchFamily="34" charset="-120"/>
              </a:rPr>
              <a:t> </a:t>
            </a:r>
            <a:r>
              <a:rPr lang="tr-TR" sz="1600" dirty="0" err="1">
                <a:solidFill>
                  <a:srgbClr val="0D1B2A"/>
                </a:solidFill>
                <a:latin typeface="Arial" pitchFamily="34" charset="0"/>
                <a:ea typeface="Arial" pitchFamily="34" charset="-122"/>
                <a:cs typeface="Arial" pitchFamily="34" charset="-120"/>
              </a:rPr>
              <a:t>than</a:t>
            </a:r>
            <a:r>
              <a:rPr lang="tr-TR" sz="1600" dirty="0">
                <a:solidFill>
                  <a:srgbClr val="0D1B2A"/>
                </a:solidFill>
                <a:latin typeface="Arial" pitchFamily="34" charset="0"/>
                <a:ea typeface="Arial" pitchFamily="34" charset="-122"/>
                <a:cs typeface="Arial" pitchFamily="34" charset="-120"/>
              </a:rPr>
              <a:t> an </a:t>
            </a:r>
            <a:r>
              <a:rPr lang="tr-TR" sz="1600" dirty="0" err="1">
                <a:solidFill>
                  <a:srgbClr val="0D1B2A"/>
                </a:solidFill>
                <a:latin typeface="Arial" pitchFamily="34" charset="0"/>
                <a:ea typeface="Arial" pitchFamily="34" charset="-122"/>
                <a:cs typeface="Arial" pitchFamily="34" charset="-120"/>
              </a:rPr>
              <a:t>entire</a:t>
            </a:r>
            <a:r>
              <a:rPr lang="tr-TR" sz="1600" dirty="0">
                <a:solidFill>
                  <a:srgbClr val="0D1B2A"/>
                </a:solidFill>
                <a:latin typeface="Arial" pitchFamily="34" charset="0"/>
                <a:ea typeface="Arial" pitchFamily="34" charset="-122"/>
                <a:cs typeface="Arial" pitchFamily="34" charset="-120"/>
              </a:rPr>
              <a:t> </a:t>
            </a:r>
            <a:r>
              <a:rPr lang="tr-TR" sz="1600" dirty="0" err="1">
                <a:solidFill>
                  <a:srgbClr val="0D1B2A"/>
                </a:solidFill>
                <a:latin typeface="Arial" pitchFamily="34" charset="0"/>
                <a:ea typeface="Arial" pitchFamily="34" charset="-122"/>
                <a:cs typeface="Arial" pitchFamily="34" charset="-120"/>
              </a:rPr>
              <a:t>shift</a:t>
            </a:r>
            <a:r>
              <a:rPr lang="tr-TR" sz="1600" dirty="0">
                <a:solidFill>
                  <a:srgbClr val="0D1B2A"/>
                </a:solidFill>
                <a:latin typeface="Arial" pitchFamily="34" charset="0"/>
                <a:ea typeface="Arial" pitchFamily="34" charset="-122"/>
                <a:cs typeface="Arial" pitchFamily="34" charset="-120"/>
              </a:rPr>
              <a:t>, </a:t>
            </a:r>
            <a:r>
              <a:rPr lang="tr-TR" sz="1600" dirty="0" err="1">
                <a:solidFill>
                  <a:srgbClr val="0D1B2A"/>
                </a:solidFill>
                <a:latin typeface="Arial" pitchFamily="34" charset="0"/>
                <a:ea typeface="Arial" pitchFamily="34" charset="-122"/>
                <a:cs typeface="Arial" pitchFamily="34" charset="-120"/>
              </a:rPr>
              <a:t>we</a:t>
            </a:r>
            <a:r>
              <a:rPr lang="tr-TR" sz="1600" dirty="0">
                <a:solidFill>
                  <a:srgbClr val="0D1B2A"/>
                </a:solidFill>
                <a:latin typeface="Arial" pitchFamily="34" charset="0"/>
                <a:ea typeface="Arial" pitchFamily="34" charset="-122"/>
                <a:cs typeface="Arial" pitchFamily="34" charset="-120"/>
              </a:rPr>
              <a:t> </a:t>
            </a:r>
            <a:r>
              <a:rPr lang="tr-TR" sz="1600" dirty="0" err="1">
                <a:solidFill>
                  <a:srgbClr val="0D1B2A"/>
                </a:solidFill>
                <a:latin typeface="Arial" pitchFamily="34" charset="0"/>
                <a:ea typeface="Arial" pitchFamily="34" charset="-122"/>
                <a:cs typeface="Arial" pitchFamily="34" charset="-120"/>
              </a:rPr>
              <a:t>observe</a:t>
            </a:r>
            <a:r>
              <a:rPr lang="tr-TR" sz="1600" dirty="0">
                <a:solidFill>
                  <a:srgbClr val="0D1B2A"/>
                </a:solidFill>
                <a:latin typeface="Arial" pitchFamily="34" charset="0"/>
                <a:ea typeface="Arial" pitchFamily="34" charset="-122"/>
                <a:cs typeface="Arial" pitchFamily="34" charset="-120"/>
              </a:rPr>
              <a:t>  </a:t>
            </a:r>
            <a:r>
              <a:rPr lang="tr-TR" sz="1600" dirty="0" err="1">
                <a:solidFill>
                  <a:srgbClr val="0D1B2A"/>
                </a:solidFill>
                <a:latin typeface="Arial" pitchFamily="34" charset="0"/>
                <a:ea typeface="Arial" pitchFamily="34" charset="-122"/>
                <a:cs typeface="Arial" pitchFamily="34" charset="-120"/>
              </a:rPr>
              <a:t>the</a:t>
            </a:r>
            <a:r>
              <a:rPr lang="tr-TR" sz="1600" dirty="0">
                <a:solidFill>
                  <a:srgbClr val="0D1B2A"/>
                </a:solidFill>
                <a:latin typeface="Arial" pitchFamily="34" charset="0"/>
                <a:ea typeface="Arial" pitchFamily="34" charset="-122"/>
                <a:cs typeface="Arial" pitchFamily="34" charset="-120"/>
              </a:rPr>
              <a:t> </a:t>
            </a:r>
            <a:r>
              <a:rPr lang="tr-TR" sz="1600" dirty="0" err="1">
                <a:solidFill>
                  <a:srgbClr val="0D1B2A"/>
                </a:solidFill>
                <a:latin typeface="Arial" pitchFamily="34" charset="0"/>
                <a:ea typeface="Arial" pitchFamily="34" charset="-122"/>
                <a:cs typeface="Arial" pitchFamily="34" charset="-120"/>
              </a:rPr>
              <a:t>emergence</a:t>
            </a:r>
            <a:r>
              <a:rPr lang="tr-TR" sz="1600" dirty="0">
                <a:solidFill>
                  <a:srgbClr val="0D1B2A"/>
                </a:solidFill>
                <a:latin typeface="Arial" pitchFamily="34" charset="0"/>
                <a:ea typeface="Arial" pitchFamily="34" charset="-122"/>
                <a:cs typeface="Arial" pitchFamily="34" charset="-120"/>
              </a:rPr>
              <a:t> of </a:t>
            </a:r>
            <a:r>
              <a:rPr lang="tr-TR" sz="1600" dirty="0" err="1">
                <a:solidFill>
                  <a:srgbClr val="0D1B2A"/>
                </a:solidFill>
                <a:latin typeface="Arial" pitchFamily="34" charset="0"/>
                <a:ea typeface="Arial" pitchFamily="34" charset="-122"/>
                <a:cs typeface="Arial" pitchFamily="34" charset="-120"/>
              </a:rPr>
              <a:t>new</a:t>
            </a:r>
            <a:r>
              <a:rPr lang="tr-TR" sz="1600" dirty="0">
                <a:solidFill>
                  <a:srgbClr val="0D1B2A"/>
                </a:solidFill>
                <a:latin typeface="Arial" pitchFamily="34" charset="0"/>
                <a:ea typeface="Arial" pitchFamily="34" charset="-122"/>
                <a:cs typeface="Arial" pitchFamily="34" charset="-120"/>
              </a:rPr>
              <a:t> </a:t>
            </a:r>
            <a:r>
              <a:rPr lang="tr-TR" sz="1600" dirty="0" err="1">
                <a:solidFill>
                  <a:srgbClr val="0D1B2A"/>
                </a:solidFill>
                <a:latin typeface="Arial" pitchFamily="34" charset="0"/>
                <a:ea typeface="Arial" pitchFamily="34" charset="-122"/>
                <a:cs typeface="Arial" pitchFamily="34" charset="-120"/>
              </a:rPr>
              <a:t>hub</a:t>
            </a:r>
            <a:r>
              <a:rPr lang="tr-TR" sz="1600" dirty="0">
                <a:solidFill>
                  <a:srgbClr val="0D1B2A"/>
                </a:solidFill>
                <a:latin typeface="Arial" pitchFamily="34" charset="0"/>
                <a:ea typeface="Arial" pitchFamily="34" charset="-122"/>
                <a:cs typeface="Arial" pitchFamily="34" charset="-120"/>
              </a:rPr>
              <a:t> </a:t>
            </a:r>
            <a:r>
              <a:rPr lang="tr-TR" sz="1600" dirty="0" err="1">
                <a:solidFill>
                  <a:srgbClr val="0D1B2A"/>
                </a:solidFill>
                <a:latin typeface="Arial" pitchFamily="34" charset="0"/>
                <a:ea typeface="Arial" pitchFamily="34" charset="-122"/>
                <a:cs typeface="Arial" pitchFamily="34" charset="-120"/>
              </a:rPr>
              <a:t>regions</a:t>
            </a:r>
            <a:r>
              <a:rPr lang="tr-TR" sz="1600" dirty="0">
                <a:solidFill>
                  <a:srgbClr val="0D1B2A"/>
                </a:solidFill>
                <a:latin typeface="Arial" pitchFamily="34" charset="0"/>
                <a:ea typeface="Arial" pitchFamily="34" charset="-122"/>
                <a:cs typeface="Arial" pitchFamily="34" charset="-120"/>
              </a:rPr>
              <a:t> </a:t>
            </a:r>
            <a:r>
              <a:rPr lang="tr-TR" sz="1600" dirty="0" err="1">
                <a:solidFill>
                  <a:srgbClr val="0D1B2A"/>
                </a:solidFill>
                <a:latin typeface="Arial" pitchFamily="34" charset="0"/>
                <a:ea typeface="Arial" pitchFamily="34" charset="-122"/>
                <a:cs typeface="Arial" pitchFamily="34" charset="-120"/>
              </a:rPr>
              <a:t>between</a:t>
            </a:r>
            <a:r>
              <a:rPr lang="tr-TR" sz="1600" dirty="0">
                <a:solidFill>
                  <a:srgbClr val="0D1B2A"/>
                </a:solidFill>
                <a:latin typeface="Arial" pitchFamily="34" charset="0"/>
                <a:ea typeface="Arial" pitchFamily="34" charset="-122"/>
                <a:cs typeface="Arial" pitchFamily="34" charset="-120"/>
              </a:rPr>
              <a:t> </a:t>
            </a:r>
            <a:r>
              <a:rPr lang="tr-TR" sz="1600" dirty="0" err="1">
                <a:solidFill>
                  <a:srgbClr val="0D1B2A"/>
                </a:solidFill>
                <a:latin typeface="Arial" pitchFamily="34" charset="0"/>
                <a:ea typeface="Arial" pitchFamily="34" charset="-122"/>
                <a:cs typeface="Arial" pitchFamily="34" charset="-120"/>
              </a:rPr>
              <a:t>seasons</a:t>
            </a:r>
            <a:r>
              <a:rPr lang="tr-TR" sz="1600" dirty="0">
                <a:solidFill>
                  <a:srgbClr val="0D1B2A"/>
                </a:solidFill>
                <a:latin typeface="Arial" pitchFamily="34" charset="0"/>
                <a:ea typeface="Arial" pitchFamily="34" charset="-122"/>
                <a:cs typeface="Arial" pitchFamily="34" charset="-120"/>
              </a:rPr>
              <a:t>.</a:t>
            </a:r>
            <a:endParaRPr lang="en-US" sz="1600" dirty="0"/>
          </a:p>
        </p:txBody>
      </p:sp>
      <p:sp>
        <p:nvSpPr>
          <p:cNvPr id="50" name="Shape 45"/>
          <p:cNvSpPr/>
          <p:nvPr/>
        </p:nvSpPr>
        <p:spPr>
          <a:xfrm>
            <a:off x="10573512" y="26509758"/>
            <a:ext cx="9128760" cy="1234440"/>
          </a:xfrm>
          <a:prstGeom prst="rect">
            <a:avLst/>
          </a:prstGeom>
          <a:solidFill>
            <a:srgbClr val="0D1B2A"/>
          </a:solidFill>
          <a:ln w="12700">
            <a:solidFill>
              <a:srgbClr val="0D1B2A"/>
            </a:solidFill>
            <a:prstDash val="solid"/>
          </a:ln>
        </p:spPr>
        <p:txBody>
          <a:bodyPr/>
          <a:lstStyle/>
          <a:p>
            <a:endParaRPr lang="tr-TR"/>
          </a:p>
        </p:txBody>
      </p:sp>
      <p:sp>
        <p:nvSpPr>
          <p:cNvPr id="51" name="Text 46"/>
          <p:cNvSpPr/>
          <p:nvPr/>
        </p:nvSpPr>
        <p:spPr>
          <a:xfrm>
            <a:off x="10710672" y="26601198"/>
            <a:ext cx="8854440" cy="1051560"/>
          </a:xfrm>
          <a:prstGeom prst="rect">
            <a:avLst/>
          </a:prstGeom>
          <a:noFill/>
          <a:ln/>
        </p:spPr>
        <p:txBody>
          <a:bodyPr wrap="square" lIns="0" tIns="0" rIns="0" bIns="0" rtlCol="0" anchor="ctr"/>
          <a:lstStyle/>
          <a:p>
            <a:pPr marL="0" indent="0" algn="ctr">
              <a:buNone/>
            </a:pPr>
            <a:r>
              <a:rPr lang="en-US" sz="5400" b="1" dirty="0">
                <a:solidFill>
                  <a:srgbClr val="E8A838"/>
                </a:solidFill>
              </a:rPr>
              <a:t>21.3</a:t>
            </a:r>
            <a:r>
              <a:rPr lang="en-US" sz="2000" dirty="0">
                <a:solidFill>
                  <a:srgbClr val="FFFFFF"/>
                </a:solidFill>
              </a:rPr>
              <a:t> degree northward shift in mean hub latitude  |  </a:t>
            </a:r>
            <a:r>
              <a:rPr lang="en-US" sz="2600" b="1" dirty="0">
                <a:solidFill>
                  <a:srgbClr val="E8A838"/>
                </a:solidFill>
              </a:rPr>
              <a:t>p &lt; 0.001</a:t>
            </a:r>
            <a:r>
              <a:rPr lang="en-US" sz="1800" dirty="0">
                <a:solidFill>
                  <a:srgbClr val="FFFFFF"/>
                </a:solidFill>
              </a:rPr>
              <a:t>  (3 independent tests)</a:t>
            </a:r>
            <a:endParaRPr lang="en-US" sz="5400" dirty="0"/>
          </a:p>
        </p:txBody>
      </p:sp>
      <p:pic>
        <p:nvPicPr>
          <p:cNvPr id="52" name="Image 3" descr="/mnt/user-data/uploads/1779045406802_h2_hub_latitude_distribution.png"/>
          <p:cNvPicPr>
            <a:picLocks noChangeAspect="1"/>
          </p:cNvPicPr>
          <p:nvPr/>
        </p:nvPicPr>
        <p:blipFill>
          <a:blip r:embed="rId6"/>
          <a:stretch>
            <a:fillRect/>
          </a:stretch>
        </p:blipFill>
        <p:spPr>
          <a:xfrm>
            <a:off x="10573512" y="27744198"/>
            <a:ext cx="9128760" cy="6750139"/>
          </a:xfrm>
          <a:prstGeom prst="rect">
            <a:avLst/>
          </a:prstGeom>
        </p:spPr>
      </p:pic>
      <p:sp>
        <p:nvSpPr>
          <p:cNvPr id="53" name="Text 47"/>
          <p:cNvSpPr/>
          <p:nvPr/>
        </p:nvSpPr>
        <p:spPr>
          <a:xfrm>
            <a:off x="10573512" y="34530914"/>
            <a:ext cx="9128760" cy="384048"/>
          </a:xfrm>
          <a:prstGeom prst="rect">
            <a:avLst/>
          </a:prstGeom>
          <a:noFill/>
          <a:ln/>
        </p:spPr>
        <p:txBody>
          <a:bodyPr wrap="square" rtlCol="0" anchor="ctr"/>
          <a:lstStyle/>
          <a:p>
            <a:pPr marL="0" indent="0" algn="ctr">
              <a:buNone/>
            </a:pPr>
            <a:r>
              <a:rPr lang="en-US" sz="1400" i="1" dirty="0">
                <a:solidFill>
                  <a:srgbClr val="2C3E50"/>
                </a:solidFill>
                <a:latin typeface="Arial" pitchFamily="34" charset="0"/>
                <a:ea typeface="Arial" pitchFamily="34" charset="-122"/>
                <a:cs typeface="Arial" pitchFamily="34" charset="-120"/>
              </a:rPr>
              <a:t>Fig. 4 -- Hub counts per latitude band. NH storm track bands (20N-60N) activate exclusively in DJF.</a:t>
            </a:r>
            <a:endParaRPr lang="en-US" sz="1400" dirty="0"/>
          </a:p>
        </p:txBody>
      </p:sp>
      <p:sp>
        <p:nvSpPr>
          <p:cNvPr id="54" name="Shape 48"/>
          <p:cNvSpPr/>
          <p:nvPr/>
        </p:nvSpPr>
        <p:spPr>
          <a:xfrm>
            <a:off x="10573512" y="34988114"/>
            <a:ext cx="9128760" cy="2694310"/>
          </a:xfrm>
          <a:prstGeom prst="rect">
            <a:avLst/>
          </a:prstGeom>
          <a:solidFill>
            <a:srgbClr val="EBF5FB"/>
          </a:solidFill>
          <a:ln w="10160">
            <a:solidFill>
              <a:srgbClr val="2E86AB"/>
            </a:solidFill>
            <a:prstDash val="solid"/>
          </a:ln>
        </p:spPr>
        <p:txBody>
          <a:bodyPr/>
          <a:lstStyle/>
          <a:p>
            <a:endParaRPr lang="tr-TR"/>
          </a:p>
        </p:txBody>
      </p:sp>
      <p:sp>
        <p:nvSpPr>
          <p:cNvPr id="55" name="Shape 49"/>
          <p:cNvSpPr/>
          <p:nvPr/>
        </p:nvSpPr>
        <p:spPr>
          <a:xfrm>
            <a:off x="10573512" y="34988114"/>
            <a:ext cx="91440" cy="2694310"/>
          </a:xfrm>
          <a:prstGeom prst="rect">
            <a:avLst/>
          </a:prstGeom>
          <a:solidFill>
            <a:srgbClr val="2E86AB"/>
          </a:solidFill>
          <a:ln w="12700">
            <a:solidFill>
              <a:srgbClr val="2E86AB"/>
            </a:solidFill>
            <a:prstDash val="solid"/>
          </a:ln>
        </p:spPr>
        <p:txBody>
          <a:bodyPr/>
          <a:lstStyle/>
          <a:p>
            <a:endParaRPr lang="tr-TR"/>
          </a:p>
        </p:txBody>
      </p:sp>
      <p:sp>
        <p:nvSpPr>
          <p:cNvPr id="56" name="Text 50"/>
          <p:cNvSpPr/>
          <p:nvPr/>
        </p:nvSpPr>
        <p:spPr>
          <a:xfrm>
            <a:off x="10738104" y="35061266"/>
            <a:ext cx="8872728" cy="2548006"/>
          </a:xfrm>
          <a:prstGeom prst="rect">
            <a:avLst/>
          </a:prstGeom>
          <a:noFill/>
          <a:ln/>
        </p:spPr>
        <p:txBody>
          <a:bodyPr wrap="square" rtlCol="0" anchor="ctr"/>
          <a:lstStyle/>
          <a:p>
            <a:pPr marL="0" indent="0">
              <a:buNone/>
            </a:pPr>
            <a:r>
              <a:rPr lang="en-US" sz="1600" dirty="0">
                <a:solidFill>
                  <a:srgbClr val="0D1B2A"/>
                </a:solidFill>
                <a:latin typeface="Arial" pitchFamily="34" charset="0"/>
                <a:ea typeface="Arial" pitchFamily="34" charset="-122"/>
                <a:cs typeface="Arial" pitchFamily="34" charset="-120"/>
              </a:rPr>
              <a:t>In JJA (blue), nearly all hubs cluster in the Southern Ocean (60S-40S) and SH subtropics (40S-20S) -- tropics and NH are virtually empty. In DJF (dark), while Southern Ocean remains dominant, hubs in 20N-40N and 40N-60N rise sharply (88 and 103 nodes), driving the 21.3 degree northward shift in mean hub latitude.</a:t>
            </a:r>
            <a:endParaRPr lang="en-US" sz="1600" dirty="0"/>
          </a:p>
        </p:txBody>
      </p:sp>
      <p:sp>
        <p:nvSpPr>
          <p:cNvPr id="57" name="Shape 51"/>
          <p:cNvSpPr/>
          <p:nvPr/>
        </p:nvSpPr>
        <p:spPr>
          <a:xfrm>
            <a:off x="20397216" y="3264408"/>
            <a:ext cx="9128760" cy="420624"/>
          </a:xfrm>
          <a:prstGeom prst="rect">
            <a:avLst/>
          </a:prstGeom>
          <a:solidFill>
            <a:srgbClr val="1B7F8E"/>
          </a:solidFill>
          <a:ln w="12700">
            <a:solidFill>
              <a:srgbClr val="1B7F8E"/>
            </a:solidFill>
            <a:prstDash val="solid"/>
          </a:ln>
        </p:spPr>
        <p:txBody>
          <a:bodyPr/>
          <a:lstStyle/>
          <a:p>
            <a:endParaRPr lang="tr-TR"/>
          </a:p>
        </p:txBody>
      </p:sp>
      <p:sp>
        <p:nvSpPr>
          <p:cNvPr id="58" name="Text 52"/>
          <p:cNvSpPr/>
          <p:nvPr/>
        </p:nvSpPr>
        <p:spPr>
          <a:xfrm>
            <a:off x="20488656" y="3264408"/>
            <a:ext cx="8945880" cy="420624"/>
          </a:xfrm>
          <a:prstGeom prst="rect">
            <a:avLst/>
          </a:prstGeom>
          <a:noFill/>
          <a:ln/>
        </p:spPr>
        <p:txBody>
          <a:bodyPr wrap="square" lIns="0" tIns="0" rIns="0" bIns="0" rtlCol="0" anchor="ctr"/>
          <a:lstStyle/>
          <a:p>
            <a:pPr marL="0" indent="0">
              <a:buNone/>
            </a:pPr>
            <a:r>
              <a:rPr lang="en-US" sz="2300" b="1" dirty="0">
                <a:solidFill>
                  <a:srgbClr val="FFFFFF"/>
                </a:solidFill>
                <a:latin typeface="Arial" pitchFamily="34" charset="0"/>
                <a:ea typeface="Arial" pitchFamily="34" charset="-122"/>
                <a:cs typeface="Arial" pitchFamily="34" charset="-120"/>
              </a:rPr>
              <a:t>H3 -- Long-Range Links More Abundant in Winter</a:t>
            </a:r>
            <a:endParaRPr lang="en-US" sz="2300" dirty="0"/>
          </a:p>
        </p:txBody>
      </p:sp>
      <p:sp>
        <p:nvSpPr>
          <p:cNvPr id="59" name="Shape 53"/>
          <p:cNvSpPr/>
          <p:nvPr/>
        </p:nvSpPr>
        <p:spPr>
          <a:xfrm>
            <a:off x="20397216" y="3831336"/>
            <a:ext cx="4495800" cy="1554480"/>
          </a:xfrm>
          <a:prstGeom prst="rect">
            <a:avLst/>
          </a:prstGeom>
          <a:solidFill>
            <a:srgbClr val="0D1B2A"/>
          </a:solidFill>
          <a:ln w="12700">
            <a:solidFill>
              <a:srgbClr val="0D1B2A"/>
            </a:solidFill>
            <a:prstDash val="solid"/>
          </a:ln>
        </p:spPr>
        <p:txBody>
          <a:bodyPr/>
          <a:lstStyle/>
          <a:p>
            <a:endParaRPr lang="tr-TR"/>
          </a:p>
        </p:txBody>
      </p:sp>
      <p:sp>
        <p:nvSpPr>
          <p:cNvPr id="60" name="Text 54"/>
          <p:cNvSpPr/>
          <p:nvPr/>
        </p:nvSpPr>
        <p:spPr>
          <a:xfrm>
            <a:off x="20470368" y="3904488"/>
            <a:ext cx="4349496" cy="1408176"/>
          </a:xfrm>
          <a:prstGeom prst="rect">
            <a:avLst/>
          </a:prstGeom>
          <a:noFill/>
          <a:ln/>
        </p:spPr>
        <p:txBody>
          <a:bodyPr wrap="square" lIns="0" tIns="0" rIns="0" bIns="0" rtlCol="0" anchor="ctr"/>
          <a:lstStyle/>
          <a:p>
            <a:pPr marL="0" indent="0" algn="ctr">
              <a:buNone/>
            </a:pPr>
            <a:r>
              <a:rPr lang="en-US" sz="6000" b="1" dirty="0">
                <a:solidFill>
                  <a:srgbClr val="E8A838"/>
                </a:solidFill>
              </a:rPr>
              <a:t>71%</a:t>
            </a:r>
            <a:endParaRPr lang="en-US" sz="6000" dirty="0"/>
          </a:p>
          <a:p>
            <a:pPr marL="0" indent="0" algn="ctr">
              <a:buNone/>
            </a:pPr>
            <a:r>
              <a:rPr lang="en-US" sz="1600" dirty="0">
                <a:solidFill>
                  <a:srgbClr val="FFFFFF"/>
                </a:solidFill>
              </a:rPr>
              <a:t>of DJF links span</a:t>
            </a:r>
            <a:endParaRPr lang="en-US" sz="6000" dirty="0"/>
          </a:p>
          <a:p>
            <a:pPr marL="0" indent="0" algn="ctr">
              <a:buNone/>
            </a:pPr>
            <a:r>
              <a:rPr lang="en-US" sz="1600" dirty="0">
                <a:solidFill>
                  <a:srgbClr val="FFFFFF"/>
                </a:solidFill>
              </a:rPr>
              <a:t>&gt;2,500 km</a:t>
            </a:r>
            <a:endParaRPr lang="en-US" sz="6000" dirty="0"/>
          </a:p>
        </p:txBody>
      </p:sp>
      <p:sp>
        <p:nvSpPr>
          <p:cNvPr id="61" name="Shape 55"/>
          <p:cNvSpPr/>
          <p:nvPr/>
        </p:nvSpPr>
        <p:spPr>
          <a:xfrm>
            <a:off x="25030176" y="3831336"/>
            <a:ext cx="4495800" cy="1554480"/>
          </a:xfrm>
          <a:prstGeom prst="rect">
            <a:avLst/>
          </a:prstGeom>
          <a:solidFill>
            <a:srgbClr val="2E86AB"/>
          </a:solidFill>
          <a:ln w="12700">
            <a:solidFill>
              <a:srgbClr val="2E86AB"/>
            </a:solidFill>
            <a:prstDash val="solid"/>
          </a:ln>
        </p:spPr>
        <p:txBody>
          <a:bodyPr/>
          <a:lstStyle/>
          <a:p>
            <a:endParaRPr lang="tr-TR"/>
          </a:p>
        </p:txBody>
      </p:sp>
      <p:sp>
        <p:nvSpPr>
          <p:cNvPr id="62" name="Text 56"/>
          <p:cNvSpPr/>
          <p:nvPr/>
        </p:nvSpPr>
        <p:spPr>
          <a:xfrm>
            <a:off x="25103328" y="3904488"/>
            <a:ext cx="4349496" cy="1408176"/>
          </a:xfrm>
          <a:prstGeom prst="rect">
            <a:avLst/>
          </a:prstGeom>
          <a:noFill/>
          <a:ln/>
        </p:spPr>
        <p:txBody>
          <a:bodyPr wrap="square" lIns="0" tIns="0" rIns="0" bIns="0" rtlCol="0" anchor="ctr"/>
          <a:lstStyle/>
          <a:p>
            <a:pPr marL="0" indent="0" algn="ctr">
              <a:buNone/>
            </a:pPr>
            <a:r>
              <a:rPr lang="en-US" sz="6000" b="1" dirty="0">
                <a:solidFill>
                  <a:srgbClr val="FFFFFF"/>
                </a:solidFill>
              </a:rPr>
              <a:t>56%</a:t>
            </a:r>
            <a:endParaRPr lang="en-US" sz="6000" dirty="0"/>
          </a:p>
          <a:p>
            <a:pPr marL="0" indent="0" algn="ctr">
              <a:buNone/>
            </a:pPr>
            <a:r>
              <a:rPr lang="en-US" sz="1600" dirty="0">
                <a:solidFill>
                  <a:srgbClr val="D4EEF2"/>
                </a:solidFill>
              </a:rPr>
              <a:t>in JJA</a:t>
            </a:r>
            <a:endParaRPr lang="en-US" sz="6000" dirty="0"/>
          </a:p>
          <a:p>
            <a:pPr marL="0" indent="0" algn="ctr">
              <a:buNone/>
            </a:pPr>
            <a:r>
              <a:rPr lang="en-US" sz="1600" dirty="0">
                <a:solidFill>
                  <a:srgbClr val="D4EEF2"/>
                </a:solidFill>
              </a:rPr>
              <a:t>(p &lt; 0.001)</a:t>
            </a:r>
            <a:endParaRPr lang="en-US" sz="6000" dirty="0"/>
          </a:p>
        </p:txBody>
      </p:sp>
      <p:pic>
        <p:nvPicPr>
          <p:cNvPr id="63" name="Image 4" descr="/mnt/user-data/uploads/1779045406802_h3_distance_distributions.png"/>
          <p:cNvPicPr>
            <a:picLocks noChangeAspect="1"/>
          </p:cNvPicPr>
          <p:nvPr/>
        </p:nvPicPr>
        <p:blipFill>
          <a:blip r:embed="rId7"/>
          <a:stretch>
            <a:fillRect/>
          </a:stretch>
        </p:blipFill>
        <p:spPr>
          <a:xfrm>
            <a:off x="20397216" y="5385816"/>
            <a:ext cx="9128760" cy="4679828"/>
          </a:xfrm>
          <a:prstGeom prst="rect">
            <a:avLst/>
          </a:prstGeom>
        </p:spPr>
      </p:pic>
      <p:sp>
        <p:nvSpPr>
          <p:cNvPr id="64" name="Text 57"/>
          <p:cNvSpPr/>
          <p:nvPr/>
        </p:nvSpPr>
        <p:spPr>
          <a:xfrm>
            <a:off x="20397216" y="10102220"/>
            <a:ext cx="9128760" cy="384048"/>
          </a:xfrm>
          <a:prstGeom prst="rect">
            <a:avLst/>
          </a:prstGeom>
          <a:noFill/>
          <a:ln/>
        </p:spPr>
        <p:txBody>
          <a:bodyPr wrap="square" rtlCol="0" anchor="ctr"/>
          <a:lstStyle/>
          <a:p>
            <a:pPr marL="0" indent="0" algn="ctr">
              <a:buNone/>
            </a:pPr>
            <a:r>
              <a:rPr lang="en-US" sz="1400" i="1" dirty="0">
                <a:solidFill>
                  <a:srgbClr val="2C3E50"/>
                </a:solidFill>
                <a:latin typeface="Arial" pitchFamily="34" charset="0"/>
                <a:ea typeface="Arial" pitchFamily="34" charset="-122"/>
                <a:cs typeface="Arial" pitchFamily="34" charset="-120"/>
              </a:rPr>
              <a:t>Fig. 5 -- Edge distance distributions. DJF (dark) has far more long-range edges; shared y-axis enables direct seasonal comparison.</a:t>
            </a:r>
            <a:endParaRPr lang="en-US" sz="1400" dirty="0"/>
          </a:p>
        </p:txBody>
      </p:sp>
      <p:sp>
        <p:nvSpPr>
          <p:cNvPr id="65" name="Shape 58"/>
          <p:cNvSpPr/>
          <p:nvPr/>
        </p:nvSpPr>
        <p:spPr>
          <a:xfrm>
            <a:off x="20397216" y="10559420"/>
            <a:ext cx="9128760" cy="3704783"/>
          </a:xfrm>
          <a:prstGeom prst="rect">
            <a:avLst/>
          </a:prstGeom>
          <a:solidFill>
            <a:srgbClr val="EBF5FB"/>
          </a:solidFill>
          <a:ln w="10160">
            <a:solidFill>
              <a:srgbClr val="2E86AB"/>
            </a:solidFill>
            <a:prstDash val="solid"/>
          </a:ln>
        </p:spPr>
        <p:txBody>
          <a:bodyPr/>
          <a:lstStyle/>
          <a:p>
            <a:endParaRPr lang="tr-TR"/>
          </a:p>
        </p:txBody>
      </p:sp>
      <p:sp>
        <p:nvSpPr>
          <p:cNvPr id="66" name="Shape 59"/>
          <p:cNvSpPr/>
          <p:nvPr/>
        </p:nvSpPr>
        <p:spPr>
          <a:xfrm>
            <a:off x="20397216" y="10559420"/>
            <a:ext cx="91440" cy="3704783"/>
          </a:xfrm>
          <a:prstGeom prst="rect">
            <a:avLst/>
          </a:prstGeom>
          <a:solidFill>
            <a:srgbClr val="2E86AB"/>
          </a:solidFill>
          <a:ln w="12700">
            <a:solidFill>
              <a:srgbClr val="2E86AB"/>
            </a:solidFill>
            <a:prstDash val="solid"/>
          </a:ln>
        </p:spPr>
        <p:txBody>
          <a:bodyPr/>
          <a:lstStyle/>
          <a:p>
            <a:endParaRPr lang="tr-TR"/>
          </a:p>
        </p:txBody>
      </p:sp>
      <p:sp>
        <p:nvSpPr>
          <p:cNvPr id="67" name="Text 60"/>
          <p:cNvSpPr/>
          <p:nvPr/>
        </p:nvSpPr>
        <p:spPr>
          <a:xfrm>
            <a:off x="20561808" y="10632572"/>
            <a:ext cx="8872728" cy="3558479"/>
          </a:xfrm>
          <a:prstGeom prst="rect">
            <a:avLst/>
          </a:prstGeom>
          <a:noFill/>
          <a:ln/>
        </p:spPr>
        <p:txBody>
          <a:bodyPr wrap="square" rtlCol="0" anchor="ctr"/>
          <a:lstStyle/>
          <a:p>
            <a:r>
              <a:rPr lang="en-US" sz="1600" dirty="0"/>
              <a:t>Both seasons share a structurally similar distribution — a sharp local peak below 2,500 km followed by a broad plateau of long-range links extending to 20,000 km. However, DJF (dark) maintains substantially higher edge counts than JJA (teal) across virtually every distance bin above 2,500 km, not just in total. This means winter does not simply have more links — it has proportionally more long-range links at every scale simultaneously, consistent with a globally active Rossby wave field. </a:t>
            </a:r>
            <a:r>
              <a:rPr lang="en-US" sz="1600"/>
              <a:t>ES decay lengths confirm the reach difference: DJF λ=2,530 km vs JJA λ=2,248 km.</a:t>
            </a:r>
            <a:endParaRPr lang="en-US" sz="1600" dirty="0"/>
          </a:p>
        </p:txBody>
      </p:sp>
      <p:sp>
        <p:nvSpPr>
          <p:cNvPr id="68" name="Shape 61"/>
          <p:cNvSpPr/>
          <p:nvPr/>
        </p:nvSpPr>
        <p:spPr>
          <a:xfrm>
            <a:off x="20397216" y="14337355"/>
            <a:ext cx="9128760" cy="420624"/>
          </a:xfrm>
          <a:prstGeom prst="rect">
            <a:avLst/>
          </a:prstGeom>
          <a:solidFill>
            <a:srgbClr val="1B7F8E"/>
          </a:solidFill>
          <a:ln w="12700">
            <a:solidFill>
              <a:srgbClr val="1B7F8E"/>
            </a:solidFill>
            <a:prstDash val="solid"/>
          </a:ln>
        </p:spPr>
        <p:txBody>
          <a:bodyPr/>
          <a:lstStyle/>
          <a:p>
            <a:endParaRPr lang="tr-TR"/>
          </a:p>
        </p:txBody>
      </p:sp>
      <p:sp>
        <p:nvSpPr>
          <p:cNvPr id="69" name="Text 62"/>
          <p:cNvSpPr/>
          <p:nvPr/>
        </p:nvSpPr>
        <p:spPr>
          <a:xfrm>
            <a:off x="20488656" y="14337355"/>
            <a:ext cx="8945880" cy="420624"/>
          </a:xfrm>
          <a:prstGeom prst="rect">
            <a:avLst/>
          </a:prstGeom>
          <a:noFill/>
          <a:ln/>
        </p:spPr>
        <p:txBody>
          <a:bodyPr wrap="square" lIns="0" tIns="0" rIns="0" bIns="0" rtlCol="0" anchor="ctr"/>
          <a:lstStyle/>
          <a:p>
            <a:pPr marL="0" indent="0">
              <a:buNone/>
            </a:pPr>
            <a:r>
              <a:rPr lang="en-US" sz="2300" b="1" dirty="0">
                <a:solidFill>
                  <a:srgbClr val="FFFFFF"/>
                </a:solidFill>
                <a:latin typeface="Arial" pitchFamily="34" charset="0"/>
                <a:ea typeface="Arial" pitchFamily="34" charset="-122"/>
                <a:cs typeface="Arial" pitchFamily="34" charset="-120"/>
              </a:rPr>
              <a:t>Top Teleconnection Flows by Season</a:t>
            </a:r>
            <a:endParaRPr lang="en-US" sz="2300" dirty="0"/>
          </a:p>
        </p:txBody>
      </p:sp>
      <p:pic>
        <p:nvPicPr>
          <p:cNvPr id="70" name="Image 5" descr="/mnt/user-data/uploads/fig5_teleconnection_arrows.png"/>
          <p:cNvPicPr>
            <a:picLocks noChangeAspect="1"/>
          </p:cNvPicPr>
          <p:nvPr/>
        </p:nvPicPr>
        <p:blipFill>
          <a:blip r:embed="rId8"/>
          <a:stretch>
            <a:fillRect/>
          </a:stretch>
        </p:blipFill>
        <p:spPr>
          <a:xfrm>
            <a:off x="20397216" y="14904283"/>
            <a:ext cx="9128760" cy="14373342"/>
          </a:xfrm>
          <a:prstGeom prst="rect">
            <a:avLst/>
          </a:prstGeom>
        </p:spPr>
      </p:pic>
      <p:sp>
        <p:nvSpPr>
          <p:cNvPr id="71" name="Text 63"/>
          <p:cNvSpPr/>
          <p:nvPr/>
        </p:nvSpPr>
        <p:spPr>
          <a:xfrm>
            <a:off x="20397216" y="29314201"/>
            <a:ext cx="9128760" cy="384048"/>
          </a:xfrm>
          <a:prstGeom prst="rect">
            <a:avLst/>
          </a:prstGeom>
          <a:noFill/>
          <a:ln/>
        </p:spPr>
        <p:txBody>
          <a:bodyPr wrap="square" rtlCol="0" anchor="ctr"/>
          <a:lstStyle/>
          <a:p>
            <a:pPr marL="0" indent="0" algn="ctr">
              <a:buNone/>
            </a:pPr>
            <a:r>
              <a:rPr lang="en-US" sz="1400" i="1" dirty="0">
                <a:solidFill>
                  <a:srgbClr val="2C3E50"/>
                </a:solidFill>
                <a:latin typeface="Arial" pitchFamily="34" charset="0"/>
                <a:ea typeface="Arial" pitchFamily="34" charset="-122"/>
                <a:cs typeface="Arial" pitchFamily="34" charset="-120"/>
              </a:rPr>
              <a:t>Fig. 6 -- DJF: active cross-hemispheric NH-SH coupling. JJA: teleconnection confined within Southern Ocean.</a:t>
            </a:r>
            <a:endParaRPr lang="en-US" sz="1400" dirty="0"/>
          </a:p>
        </p:txBody>
      </p:sp>
      <p:sp>
        <p:nvSpPr>
          <p:cNvPr id="72" name="Shape 64"/>
          <p:cNvSpPr/>
          <p:nvPr/>
        </p:nvSpPr>
        <p:spPr>
          <a:xfrm>
            <a:off x="20397216" y="29771401"/>
            <a:ext cx="9128760" cy="3704783"/>
          </a:xfrm>
          <a:prstGeom prst="rect">
            <a:avLst/>
          </a:prstGeom>
          <a:solidFill>
            <a:srgbClr val="EBF5FB"/>
          </a:solidFill>
          <a:ln w="10160">
            <a:solidFill>
              <a:srgbClr val="2E86AB"/>
            </a:solidFill>
            <a:prstDash val="solid"/>
          </a:ln>
        </p:spPr>
        <p:txBody>
          <a:bodyPr/>
          <a:lstStyle/>
          <a:p>
            <a:endParaRPr lang="tr-TR"/>
          </a:p>
        </p:txBody>
      </p:sp>
      <p:sp>
        <p:nvSpPr>
          <p:cNvPr id="73" name="Shape 65"/>
          <p:cNvSpPr/>
          <p:nvPr/>
        </p:nvSpPr>
        <p:spPr>
          <a:xfrm>
            <a:off x="20397216" y="29771401"/>
            <a:ext cx="91440" cy="3704783"/>
          </a:xfrm>
          <a:prstGeom prst="rect">
            <a:avLst/>
          </a:prstGeom>
          <a:solidFill>
            <a:srgbClr val="2E86AB"/>
          </a:solidFill>
          <a:ln w="12700">
            <a:solidFill>
              <a:srgbClr val="2E86AB"/>
            </a:solidFill>
            <a:prstDash val="solid"/>
          </a:ln>
        </p:spPr>
        <p:txBody>
          <a:bodyPr/>
          <a:lstStyle/>
          <a:p>
            <a:endParaRPr lang="tr-TR"/>
          </a:p>
        </p:txBody>
      </p:sp>
      <p:sp>
        <p:nvSpPr>
          <p:cNvPr id="74" name="Text 66"/>
          <p:cNvSpPr/>
          <p:nvPr/>
        </p:nvSpPr>
        <p:spPr>
          <a:xfrm>
            <a:off x="20561808" y="29844553"/>
            <a:ext cx="8872728" cy="3558479"/>
          </a:xfrm>
          <a:prstGeom prst="rect">
            <a:avLst/>
          </a:prstGeom>
          <a:noFill/>
          <a:ln/>
        </p:spPr>
        <p:txBody>
          <a:bodyPr wrap="square" rtlCol="0" anchor="ctr"/>
          <a:lstStyle/>
          <a:p>
            <a:pPr marL="0" indent="0">
              <a:buNone/>
            </a:pPr>
            <a:r>
              <a:rPr lang="en-US" sz="1600" dirty="0">
                <a:solidFill>
                  <a:srgbClr val="0D1B2A"/>
                </a:solidFill>
                <a:latin typeface="Arial" pitchFamily="34" charset="0"/>
                <a:ea typeface="Arial" pitchFamily="34" charset="-122"/>
                <a:cs typeface="Arial" pitchFamily="34" charset="-120"/>
              </a:rPr>
              <a:t>In DJF the 5 strongest flows span entire hemispheres: Southern Ocean drives N. Pacific (13,194 edges), N. Pacific reciprocates (12,784), N. Atlantic couples to Southern Ocean (8,127). In JJA, flows 1 and 2 both link the two Southern Ocean sectors -- the global network collapses to intra-Southern-Ocean circulation with only weak residual N. Atlantic connections.</a:t>
            </a:r>
            <a:endParaRPr lang="en-US" sz="1600" dirty="0"/>
          </a:p>
        </p:txBody>
      </p:sp>
      <p:sp>
        <p:nvSpPr>
          <p:cNvPr id="75" name="Shape 67"/>
          <p:cNvSpPr/>
          <p:nvPr/>
        </p:nvSpPr>
        <p:spPr>
          <a:xfrm>
            <a:off x="20397216" y="33549336"/>
            <a:ext cx="9128760" cy="3931920"/>
          </a:xfrm>
          <a:prstGeom prst="rect">
            <a:avLst/>
          </a:prstGeom>
          <a:solidFill>
            <a:srgbClr val="FFF8E8"/>
          </a:solidFill>
          <a:ln w="25400">
            <a:solidFill>
              <a:srgbClr val="E8A838"/>
            </a:solidFill>
            <a:prstDash val="solid"/>
          </a:ln>
        </p:spPr>
        <p:txBody>
          <a:bodyPr/>
          <a:lstStyle/>
          <a:p>
            <a:endParaRPr lang="tr-TR"/>
          </a:p>
        </p:txBody>
      </p:sp>
      <p:sp>
        <p:nvSpPr>
          <p:cNvPr id="76" name="Shape 68"/>
          <p:cNvSpPr/>
          <p:nvPr/>
        </p:nvSpPr>
        <p:spPr>
          <a:xfrm>
            <a:off x="20397216" y="33549336"/>
            <a:ext cx="118872" cy="3931920"/>
          </a:xfrm>
          <a:prstGeom prst="rect">
            <a:avLst/>
          </a:prstGeom>
          <a:solidFill>
            <a:srgbClr val="E8A838"/>
          </a:solidFill>
          <a:ln w="12700">
            <a:solidFill>
              <a:srgbClr val="E8A838"/>
            </a:solidFill>
            <a:prstDash val="solid"/>
          </a:ln>
        </p:spPr>
        <p:txBody>
          <a:bodyPr/>
          <a:lstStyle/>
          <a:p>
            <a:endParaRPr lang="tr-TR"/>
          </a:p>
        </p:txBody>
      </p:sp>
      <p:sp>
        <p:nvSpPr>
          <p:cNvPr id="77" name="Text 69"/>
          <p:cNvSpPr/>
          <p:nvPr/>
        </p:nvSpPr>
        <p:spPr>
          <a:xfrm>
            <a:off x="20607528" y="33677352"/>
            <a:ext cx="8808720" cy="3675888"/>
          </a:xfrm>
          <a:prstGeom prst="rect">
            <a:avLst/>
          </a:prstGeom>
          <a:noFill/>
          <a:ln/>
        </p:spPr>
        <p:txBody>
          <a:bodyPr wrap="square" rtlCol="0" anchor="t"/>
          <a:lstStyle/>
          <a:p>
            <a:pPr marL="0" indent="0">
              <a:buNone/>
            </a:pPr>
            <a:r>
              <a:rPr lang="en-US" sz="2000" b="1" dirty="0">
                <a:solidFill>
                  <a:srgbClr val="E8A838"/>
                </a:solidFill>
                <a:latin typeface="Arial" pitchFamily="34" charset="0"/>
                <a:ea typeface="Arial" pitchFamily="34" charset="-122"/>
                <a:cs typeface="Arial" pitchFamily="34" charset="-120"/>
              </a:rPr>
              <a:t>Unexpected Findings</a:t>
            </a:r>
            <a:endParaRPr lang="en-US" sz="1600" dirty="0"/>
          </a:p>
          <a:p>
            <a:pPr marL="0" indent="0">
              <a:buNone/>
            </a:pPr>
            <a:r>
              <a:rPr lang="en-US" sz="500" dirty="0">
                <a:solidFill>
                  <a:srgbClr val="0D1B2A"/>
                </a:solidFill>
                <a:latin typeface="Arial" pitchFamily="34" charset="0"/>
                <a:ea typeface="Arial" pitchFamily="34" charset="-122"/>
                <a:cs typeface="Arial" pitchFamily="34" charset="-120"/>
              </a:rPr>
              <a:t> </a:t>
            </a:r>
            <a:endParaRPr lang="en-US" sz="1600" dirty="0"/>
          </a:p>
          <a:p>
            <a:pPr marL="342900" indent="-342900">
              <a:buSzPct val="100000"/>
              <a:buChar char="•"/>
            </a:pPr>
            <a:r>
              <a:rPr lang="en-US" sz="1600" dirty="0">
                <a:solidFill>
                  <a:srgbClr val="0D1B2A"/>
                </a:solidFill>
                <a:latin typeface="Arial" pitchFamily="34" charset="0"/>
                <a:ea typeface="Arial" pitchFamily="34" charset="-122"/>
                <a:cs typeface="Arial" pitchFamily="34" charset="-120"/>
              </a:rPr>
              <a:t>Southern Ocean (40S-60S) dominates hub activity in BOTH seasons -- prior literature predicted tropical monsoon hub dominance in JJA</a:t>
            </a:r>
            <a:endParaRPr lang="en-US" sz="1600" dirty="0"/>
          </a:p>
          <a:p>
            <a:pPr marL="0" indent="0">
              <a:buNone/>
            </a:pPr>
            <a:r>
              <a:rPr lang="en-US" sz="400" dirty="0">
                <a:solidFill>
                  <a:srgbClr val="0D1B2A"/>
                </a:solidFill>
                <a:latin typeface="Arial" pitchFamily="34" charset="0"/>
                <a:ea typeface="Arial" pitchFamily="34" charset="-122"/>
                <a:cs typeface="Arial" pitchFamily="34" charset="-120"/>
              </a:rPr>
              <a:t> </a:t>
            </a:r>
            <a:endParaRPr lang="en-US" sz="1600" dirty="0"/>
          </a:p>
          <a:p>
            <a:pPr marL="342900" indent="-342900">
              <a:buSzPct val="100000"/>
              <a:buChar char="•"/>
            </a:pPr>
            <a:r>
              <a:rPr lang="en-US" sz="1600" dirty="0">
                <a:solidFill>
                  <a:srgbClr val="0D1B2A"/>
                </a:solidFill>
                <a:latin typeface="Arial" pitchFamily="34" charset="0"/>
                <a:ea typeface="Arial" pitchFamily="34" charset="-122"/>
                <a:cs typeface="Arial" pitchFamily="34" charset="-120"/>
              </a:rPr>
              <a:t>Tropics (20S-20N) show near-zero hub presence year-round -- ES captures midlatitude Rossby wave sources, not tropical convective drivers</a:t>
            </a:r>
            <a:endParaRPr lang="en-US" sz="1600" dirty="0"/>
          </a:p>
          <a:p>
            <a:pPr marL="0" indent="0">
              <a:buNone/>
            </a:pPr>
            <a:r>
              <a:rPr lang="en-US" sz="400" dirty="0">
                <a:solidFill>
                  <a:srgbClr val="0D1B2A"/>
                </a:solidFill>
                <a:latin typeface="Arial" pitchFamily="34" charset="0"/>
                <a:ea typeface="Arial" pitchFamily="34" charset="-122"/>
                <a:cs typeface="Arial" pitchFamily="34" charset="-120"/>
              </a:rPr>
              <a:t> </a:t>
            </a:r>
            <a:endParaRPr lang="en-US" sz="1600" dirty="0"/>
          </a:p>
          <a:p>
            <a:pPr marL="342900" indent="-342900">
              <a:buSzPct val="100000"/>
              <a:buChar char="•"/>
            </a:pPr>
            <a:r>
              <a:rPr lang="en-US" sz="1600" dirty="0">
                <a:solidFill>
                  <a:srgbClr val="0D1B2A"/>
                </a:solidFill>
                <a:latin typeface="Arial" pitchFamily="34" charset="0"/>
                <a:ea typeface="Arial" pitchFamily="34" charset="-122"/>
                <a:cs typeface="Arial" pitchFamily="34" charset="-120"/>
              </a:rPr>
              <a:t>DJF percolation is gradual (globally distributed edges); JJA is abrupt (regionally clustered) -- a qualitative structural difference not captured by simpler metrics</a:t>
            </a:r>
            <a:endParaRPr lang="en-US" sz="1600" dirty="0"/>
          </a:p>
        </p:txBody>
      </p:sp>
      <p:sp>
        <p:nvSpPr>
          <p:cNvPr id="78" name="Shape 70"/>
          <p:cNvSpPr/>
          <p:nvPr/>
        </p:nvSpPr>
        <p:spPr>
          <a:xfrm>
            <a:off x="548640" y="37773864"/>
            <a:ext cx="19354800" cy="4480560"/>
          </a:xfrm>
          <a:prstGeom prst="rect">
            <a:avLst/>
          </a:prstGeom>
          <a:solidFill>
            <a:srgbClr val="1B7F8E"/>
          </a:solidFill>
          <a:ln w="12700">
            <a:solidFill>
              <a:srgbClr val="1B7F8E"/>
            </a:solidFill>
            <a:prstDash val="solid"/>
          </a:ln>
        </p:spPr>
        <p:txBody>
          <a:bodyPr/>
          <a:lstStyle/>
          <a:p>
            <a:endParaRPr lang="tr-TR"/>
          </a:p>
        </p:txBody>
      </p:sp>
      <p:sp>
        <p:nvSpPr>
          <p:cNvPr id="79" name="Shape 71"/>
          <p:cNvSpPr/>
          <p:nvPr/>
        </p:nvSpPr>
        <p:spPr>
          <a:xfrm>
            <a:off x="548640" y="37773864"/>
            <a:ext cx="164592" cy="4480560"/>
          </a:xfrm>
          <a:prstGeom prst="rect">
            <a:avLst/>
          </a:prstGeom>
          <a:solidFill>
            <a:srgbClr val="E8A838"/>
          </a:solidFill>
          <a:ln w="12700">
            <a:solidFill>
              <a:srgbClr val="E8A838"/>
            </a:solidFill>
            <a:prstDash val="solid"/>
          </a:ln>
        </p:spPr>
        <p:txBody>
          <a:bodyPr/>
          <a:lstStyle/>
          <a:p>
            <a:endParaRPr lang="tr-TR"/>
          </a:p>
        </p:txBody>
      </p:sp>
      <p:sp>
        <p:nvSpPr>
          <p:cNvPr id="80" name="Text 72"/>
          <p:cNvSpPr/>
          <p:nvPr/>
        </p:nvSpPr>
        <p:spPr>
          <a:xfrm>
            <a:off x="804672" y="37883592"/>
            <a:ext cx="19007328" cy="457200"/>
          </a:xfrm>
          <a:prstGeom prst="rect">
            <a:avLst/>
          </a:prstGeom>
          <a:noFill/>
          <a:ln/>
        </p:spPr>
        <p:txBody>
          <a:bodyPr wrap="square" lIns="0" tIns="0" rIns="0" bIns="0" rtlCol="0" anchor="ctr"/>
          <a:lstStyle/>
          <a:p>
            <a:pPr marL="0" indent="0">
              <a:buNone/>
            </a:pPr>
            <a:r>
              <a:rPr lang="en-US" sz="2400" b="1" kern="0" spc="300" dirty="0">
                <a:solidFill>
                  <a:srgbClr val="E8A838"/>
                </a:solidFill>
                <a:latin typeface="Arial" pitchFamily="34" charset="0"/>
                <a:ea typeface="Arial" pitchFamily="34" charset="-122"/>
                <a:cs typeface="Arial" pitchFamily="34" charset="-120"/>
              </a:rPr>
              <a:t>KEY FINDINGS</a:t>
            </a:r>
            <a:endParaRPr lang="en-US" sz="2400" dirty="0"/>
          </a:p>
        </p:txBody>
      </p:sp>
      <p:sp>
        <p:nvSpPr>
          <p:cNvPr id="81" name="Shape 73"/>
          <p:cNvSpPr/>
          <p:nvPr/>
        </p:nvSpPr>
        <p:spPr>
          <a:xfrm>
            <a:off x="804672" y="38359080"/>
            <a:ext cx="18842736" cy="0"/>
          </a:xfrm>
          <a:prstGeom prst="line">
            <a:avLst/>
          </a:prstGeom>
          <a:noFill/>
          <a:ln w="12700">
            <a:solidFill>
              <a:srgbClr val="E8A838"/>
            </a:solidFill>
            <a:prstDash val="solid"/>
          </a:ln>
        </p:spPr>
        <p:txBody>
          <a:bodyPr/>
          <a:lstStyle/>
          <a:p>
            <a:endParaRPr lang="tr-TR"/>
          </a:p>
        </p:txBody>
      </p:sp>
      <p:sp>
        <p:nvSpPr>
          <p:cNvPr id="82" name="Text 74"/>
          <p:cNvSpPr/>
          <p:nvPr/>
        </p:nvSpPr>
        <p:spPr>
          <a:xfrm>
            <a:off x="804672" y="38432232"/>
            <a:ext cx="19007328" cy="3730752"/>
          </a:xfrm>
          <a:prstGeom prst="rect">
            <a:avLst/>
          </a:prstGeom>
          <a:noFill/>
          <a:ln/>
        </p:spPr>
        <p:txBody>
          <a:bodyPr wrap="square" lIns="0" tIns="0" rIns="0" bIns="0" rtlCol="0" anchor="t"/>
          <a:lstStyle/>
          <a:p>
            <a:pPr marL="0" indent="0">
              <a:buNone/>
            </a:pPr>
            <a:r>
              <a:rPr lang="en-US" sz="2300" b="1" dirty="0">
                <a:solidFill>
                  <a:srgbClr val="E8A838"/>
                </a:solidFill>
              </a:rPr>
              <a:t>H1: </a:t>
            </a:r>
            <a:r>
              <a:rPr lang="en-US" sz="2300" dirty="0">
                <a:solidFill>
                  <a:srgbClr val="FFFFFF"/>
                </a:solidFill>
              </a:rPr>
              <a:t>DJF contains </a:t>
            </a:r>
            <a:r>
              <a:rPr lang="en-US" sz="2300" b="1" dirty="0">
                <a:solidFill>
                  <a:srgbClr val="E8A838"/>
                </a:solidFill>
              </a:rPr>
              <a:t>93% more directed edges </a:t>
            </a:r>
            <a:r>
              <a:rPr lang="en-US" sz="2300" dirty="0">
                <a:solidFill>
                  <a:srgbClr val="FFFFFF"/>
                </a:solidFill>
              </a:rPr>
              <a:t>than JJA (p&lt;0.001) -- boreal winter is the dominant season for global extreme precipitation teleconnectivity.   </a:t>
            </a:r>
            <a:r>
              <a:rPr lang="en-US" sz="2300" b="1" dirty="0">
                <a:solidFill>
                  <a:srgbClr val="E8A838"/>
                </a:solidFill>
              </a:rPr>
              <a:t>H2: </a:t>
            </a:r>
            <a:r>
              <a:rPr lang="en-US" sz="2300" dirty="0">
                <a:solidFill>
                  <a:srgbClr val="FFFFFF"/>
                </a:solidFill>
              </a:rPr>
              <a:t>Hub regions shift </a:t>
            </a:r>
            <a:r>
              <a:rPr lang="en-US" sz="2300" b="1" dirty="0">
                <a:solidFill>
                  <a:srgbClr val="E8A838"/>
                </a:solidFill>
              </a:rPr>
              <a:t>21.3 degrees northward </a:t>
            </a:r>
            <a:r>
              <a:rPr lang="en-US" sz="2300" dirty="0">
                <a:solidFill>
                  <a:srgbClr val="FFFFFF"/>
                </a:solidFill>
              </a:rPr>
              <a:t>in DJF (p&lt;0.001), driven by NH storm track hubs absent in JJA.   </a:t>
            </a:r>
            <a:r>
              <a:rPr lang="en-US" sz="2300" b="1" dirty="0">
                <a:solidFill>
                  <a:srgbClr val="E8A838"/>
                </a:solidFill>
              </a:rPr>
              <a:t>H3: </a:t>
            </a:r>
            <a:r>
              <a:rPr lang="en-US" sz="2300" dirty="0">
                <a:solidFill>
                  <a:srgbClr val="FFFFFF"/>
                </a:solidFill>
              </a:rPr>
              <a:t>71% of DJF links span &gt;2,500 km vs 56% in JJA (p&lt;0.001), forming a </a:t>
            </a:r>
            <a:r>
              <a:rPr lang="en-US" sz="2300" b="1" dirty="0">
                <a:solidFill>
                  <a:srgbClr val="E8A838"/>
                </a:solidFill>
              </a:rPr>
              <a:t>cross-hemispheric long-range backbone.   </a:t>
            </a:r>
            <a:r>
              <a:rPr lang="en-US" sz="2300" dirty="0">
                <a:solidFill>
                  <a:srgbClr val="FFFFFF"/>
                </a:solidFill>
              </a:rPr>
              <a:t>Together: DJF is a </a:t>
            </a:r>
            <a:r>
              <a:rPr lang="en-US" sz="2300" b="1" dirty="0">
                <a:solidFill>
                  <a:srgbClr val="E8A838"/>
                </a:solidFill>
              </a:rPr>
              <a:t>globally interconnected regime</a:t>
            </a:r>
            <a:r>
              <a:rPr lang="en-US" sz="2300" dirty="0">
                <a:solidFill>
                  <a:srgbClr val="FFFFFF"/>
                </a:solidFill>
              </a:rPr>
              <a:t> linking NH storm tracks to the Southern Ocean; JJA is a </a:t>
            </a:r>
            <a:r>
              <a:rPr lang="en-US" sz="2300" b="1" dirty="0">
                <a:solidFill>
                  <a:srgbClr val="E8A838"/>
                </a:solidFill>
              </a:rPr>
              <a:t>regionally fragmented regime</a:t>
            </a:r>
            <a:r>
              <a:rPr lang="en-US" sz="2300" dirty="0">
                <a:solidFill>
                  <a:srgbClr val="FFFFFF"/>
                </a:solidFill>
              </a:rPr>
              <a:t> confined within the Southern Ocean.</a:t>
            </a:r>
            <a:endParaRPr lang="en-US" sz="2300" dirty="0"/>
          </a:p>
        </p:txBody>
      </p:sp>
      <p:sp>
        <p:nvSpPr>
          <p:cNvPr id="83" name="Shape 75"/>
          <p:cNvSpPr/>
          <p:nvPr/>
        </p:nvSpPr>
        <p:spPr>
          <a:xfrm>
            <a:off x="20196048" y="37773864"/>
            <a:ext cx="9531096" cy="4480560"/>
          </a:xfrm>
          <a:prstGeom prst="rect">
            <a:avLst/>
          </a:prstGeom>
          <a:solidFill>
            <a:srgbClr val="0D1B2A"/>
          </a:solidFill>
          <a:ln w="12700">
            <a:solidFill>
              <a:srgbClr val="0D1B2A"/>
            </a:solidFill>
            <a:prstDash val="solid"/>
          </a:ln>
        </p:spPr>
        <p:txBody>
          <a:bodyPr/>
          <a:lstStyle/>
          <a:p>
            <a:endParaRPr lang="tr-TR"/>
          </a:p>
        </p:txBody>
      </p:sp>
      <p:sp>
        <p:nvSpPr>
          <p:cNvPr id="84" name="Text 76"/>
          <p:cNvSpPr/>
          <p:nvPr/>
        </p:nvSpPr>
        <p:spPr>
          <a:xfrm>
            <a:off x="20333208" y="37883592"/>
            <a:ext cx="9256776" cy="457200"/>
          </a:xfrm>
          <a:prstGeom prst="rect">
            <a:avLst/>
          </a:prstGeom>
          <a:noFill/>
          <a:ln/>
        </p:spPr>
        <p:txBody>
          <a:bodyPr wrap="square" lIns="0" tIns="0" rIns="0" bIns="0" rtlCol="0" anchor="ctr"/>
          <a:lstStyle/>
          <a:p>
            <a:pPr marL="0" indent="0">
              <a:buNone/>
            </a:pPr>
            <a:r>
              <a:rPr lang="en-US" sz="2100" b="1" kern="0" spc="200" dirty="0">
                <a:solidFill>
                  <a:srgbClr val="E8A838"/>
                </a:solidFill>
                <a:latin typeface="Arial" pitchFamily="34" charset="0"/>
                <a:ea typeface="Arial" pitchFamily="34" charset="-122"/>
                <a:cs typeface="Arial" pitchFamily="34" charset="-120"/>
              </a:rPr>
              <a:t>CONCLUSION &amp; REFERENCES</a:t>
            </a:r>
            <a:endParaRPr lang="en-US" sz="2100" dirty="0"/>
          </a:p>
        </p:txBody>
      </p:sp>
      <p:sp>
        <p:nvSpPr>
          <p:cNvPr id="85" name="Shape 77"/>
          <p:cNvSpPr/>
          <p:nvPr/>
        </p:nvSpPr>
        <p:spPr>
          <a:xfrm>
            <a:off x="20333208" y="38359080"/>
            <a:ext cx="9256776" cy="0"/>
          </a:xfrm>
          <a:prstGeom prst="line">
            <a:avLst/>
          </a:prstGeom>
          <a:noFill/>
          <a:ln w="12700">
            <a:solidFill>
              <a:srgbClr val="E8A838"/>
            </a:solidFill>
            <a:prstDash val="solid"/>
          </a:ln>
        </p:spPr>
        <p:txBody>
          <a:bodyPr/>
          <a:lstStyle/>
          <a:p>
            <a:endParaRPr lang="tr-TR"/>
          </a:p>
        </p:txBody>
      </p:sp>
      <p:sp>
        <p:nvSpPr>
          <p:cNvPr id="86" name="Text 78"/>
          <p:cNvSpPr/>
          <p:nvPr/>
        </p:nvSpPr>
        <p:spPr>
          <a:xfrm>
            <a:off x="20333208" y="38450520"/>
            <a:ext cx="4536948" cy="3712464"/>
          </a:xfrm>
          <a:prstGeom prst="rect">
            <a:avLst/>
          </a:prstGeom>
          <a:noFill/>
          <a:ln/>
        </p:spPr>
        <p:txBody>
          <a:bodyPr wrap="square" rtlCol="0" anchor="t"/>
          <a:lstStyle/>
          <a:p>
            <a:pPr marL="0" indent="0">
              <a:buNone/>
            </a:pPr>
            <a:r>
              <a:rPr lang="en-US" sz="1700" b="1" dirty="0">
                <a:solidFill>
                  <a:srgbClr val="D4EEF2"/>
                </a:solidFill>
                <a:latin typeface="Arial" pitchFamily="34" charset="0"/>
                <a:ea typeface="Arial" pitchFamily="34" charset="-122"/>
                <a:cs typeface="Arial" pitchFamily="34" charset="-120"/>
              </a:rPr>
              <a:t>Quiroga et al. 2002 Phys. Rev. E</a:t>
            </a:r>
            <a:endParaRPr lang="en-US" sz="1700" dirty="0"/>
          </a:p>
          <a:p>
            <a:pPr marL="0" indent="0">
              <a:buNone/>
            </a:pPr>
            <a:r>
              <a:rPr lang="en-US" sz="1700" dirty="0">
                <a:solidFill>
                  <a:srgbClr val="D4EEF2"/>
                </a:solidFill>
                <a:latin typeface="Arial" pitchFamily="34" charset="0"/>
                <a:ea typeface="Arial" pitchFamily="34" charset="-122"/>
                <a:cs typeface="Arial" pitchFamily="34" charset="-120"/>
              </a:rPr>
              <a:t>Event Synchronization method</a:t>
            </a:r>
            <a:endParaRPr lang="en-US" sz="1700" dirty="0"/>
          </a:p>
          <a:p>
            <a:pPr marL="0" indent="0">
              <a:buNone/>
            </a:pPr>
            <a:r>
              <a:rPr lang="en-US" sz="400" dirty="0">
                <a:solidFill>
                  <a:srgbClr val="D4EEF2"/>
                </a:solidFill>
                <a:latin typeface="Arial" pitchFamily="34" charset="0"/>
                <a:ea typeface="Arial" pitchFamily="34" charset="-122"/>
                <a:cs typeface="Arial" pitchFamily="34" charset="-120"/>
              </a:rPr>
              <a:t> </a:t>
            </a:r>
            <a:endParaRPr lang="en-US" sz="1700" dirty="0"/>
          </a:p>
          <a:p>
            <a:pPr marL="0" indent="0">
              <a:buNone/>
            </a:pPr>
            <a:r>
              <a:rPr lang="en-US" sz="1700" b="1" dirty="0">
                <a:solidFill>
                  <a:srgbClr val="D4EEF2"/>
                </a:solidFill>
                <a:latin typeface="Arial" pitchFamily="34" charset="0"/>
                <a:ea typeface="Arial" pitchFamily="34" charset="-122"/>
                <a:cs typeface="Arial" pitchFamily="34" charset="-120"/>
              </a:rPr>
              <a:t>Malik et al. 2012 Climate Dynamics</a:t>
            </a:r>
            <a:endParaRPr lang="en-US" sz="1700" dirty="0"/>
          </a:p>
          <a:p>
            <a:pPr marL="0" indent="0">
              <a:buNone/>
            </a:pPr>
            <a:r>
              <a:rPr lang="en-US" sz="1700" dirty="0">
                <a:solidFill>
                  <a:srgbClr val="D4EEF2"/>
                </a:solidFill>
                <a:latin typeface="Arial" pitchFamily="34" charset="0"/>
                <a:ea typeface="Arial" pitchFamily="34" charset="-122"/>
                <a:cs typeface="Arial" pitchFamily="34" charset="-120"/>
              </a:rPr>
              <a:t>ES for climate network analysis</a:t>
            </a:r>
            <a:endParaRPr lang="en-US" sz="1700" dirty="0"/>
          </a:p>
          <a:p>
            <a:pPr marL="0" indent="0">
              <a:buNone/>
            </a:pPr>
            <a:r>
              <a:rPr lang="en-US" sz="400" dirty="0">
                <a:solidFill>
                  <a:srgbClr val="D4EEF2"/>
                </a:solidFill>
                <a:latin typeface="Arial" pitchFamily="34" charset="0"/>
                <a:ea typeface="Arial" pitchFamily="34" charset="-122"/>
                <a:cs typeface="Arial" pitchFamily="34" charset="-120"/>
              </a:rPr>
              <a:t> </a:t>
            </a:r>
            <a:endParaRPr lang="en-US" sz="1700" dirty="0"/>
          </a:p>
          <a:p>
            <a:pPr marL="0" indent="0">
              <a:buNone/>
            </a:pPr>
            <a:r>
              <a:rPr lang="en-US" sz="1700" b="1" dirty="0">
                <a:solidFill>
                  <a:srgbClr val="D4EEF2"/>
                </a:solidFill>
                <a:latin typeface="Arial" pitchFamily="34" charset="0"/>
                <a:ea typeface="Arial" pitchFamily="34" charset="-122"/>
                <a:cs typeface="Arial" pitchFamily="34" charset="-120"/>
              </a:rPr>
              <a:t>Boers et al. 2014 Nature Comm.</a:t>
            </a:r>
            <a:endParaRPr lang="en-US" sz="1700" dirty="0"/>
          </a:p>
          <a:p>
            <a:pPr marL="0" indent="0">
              <a:buNone/>
            </a:pPr>
            <a:r>
              <a:rPr lang="en-US" sz="1700" dirty="0">
                <a:solidFill>
                  <a:srgbClr val="D4EEF2"/>
                </a:solidFill>
                <a:latin typeface="Arial" pitchFamily="34" charset="0"/>
                <a:ea typeface="Arial" pitchFamily="34" charset="-122"/>
                <a:cs typeface="Arial" pitchFamily="34" charset="-120"/>
              </a:rPr>
              <a:t>ES for extreme precipitation</a:t>
            </a:r>
            <a:endParaRPr lang="en-US" sz="1700" dirty="0"/>
          </a:p>
        </p:txBody>
      </p:sp>
      <p:sp>
        <p:nvSpPr>
          <p:cNvPr id="87" name="Text 79"/>
          <p:cNvSpPr/>
          <p:nvPr/>
        </p:nvSpPr>
        <p:spPr>
          <a:xfrm>
            <a:off x="25053036" y="38450520"/>
            <a:ext cx="4536948" cy="3712464"/>
          </a:xfrm>
          <a:prstGeom prst="rect">
            <a:avLst/>
          </a:prstGeom>
          <a:noFill/>
          <a:ln/>
        </p:spPr>
        <p:txBody>
          <a:bodyPr wrap="square" rtlCol="0" anchor="t"/>
          <a:lstStyle/>
          <a:p>
            <a:pPr marL="0" indent="0">
              <a:buNone/>
            </a:pPr>
            <a:r>
              <a:rPr lang="en-US" sz="1700" b="1" dirty="0">
                <a:solidFill>
                  <a:srgbClr val="D4EEF2"/>
                </a:solidFill>
                <a:latin typeface="Arial" pitchFamily="34" charset="0"/>
                <a:ea typeface="Arial" pitchFamily="34" charset="-122"/>
                <a:cs typeface="Arial" pitchFamily="34" charset="-120"/>
              </a:rPr>
              <a:t>Boers et al. 2019 Nature</a:t>
            </a:r>
            <a:endParaRPr lang="en-US" sz="1700" dirty="0"/>
          </a:p>
          <a:p>
            <a:pPr marL="0" indent="0">
              <a:buNone/>
            </a:pPr>
            <a:r>
              <a:rPr lang="en-US" sz="1700" dirty="0">
                <a:solidFill>
                  <a:srgbClr val="D4EEF2"/>
                </a:solidFill>
                <a:latin typeface="Arial" pitchFamily="34" charset="0"/>
                <a:ea typeface="Arial" pitchFamily="34" charset="-122"/>
                <a:cs typeface="Arial" pitchFamily="34" charset="-120"/>
              </a:rPr>
              <a:t>2,500 km threshold, Rossby waves</a:t>
            </a:r>
            <a:endParaRPr lang="en-US" sz="1700" dirty="0"/>
          </a:p>
          <a:p>
            <a:pPr marL="0" indent="0">
              <a:buNone/>
            </a:pPr>
            <a:r>
              <a:rPr lang="en-US" sz="400" dirty="0">
                <a:solidFill>
                  <a:srgbClr val="D4EEF2"/>
                </a:solidFill>
                <a:latin typeface="Arial" pitchFamily="34" charset="0"/>
                <a:ea typeface="Arial" pitchFamily="34" charset="-122"/>
                <a:cs typeface="Arial" pitchFamily="34" charset="-120"/>
              </a:rPr>
              <a:t> </a:t>
            </a:r>
            <a:endParaRPr lang="en-US" sz="1700" dirty="0"/>
          </a:p>
          <a:p>
            <a:pPr marL="0" indent="0">
              <a:buNone/>
            </a:pPr>
            <a:r>
              <a:rPr lang="en-US" sz="1700" b="1" dirty="0">
                <a:solidFill>
                  <a:srgbClr val="D4EEF2"/>
                </a:solidFill>
                <a:latin typeface="Arial" pitchFamily="34" charset="0"/>
                <a:ea typeface="Arial" pitchFamily="34" charset="-122"/>
                <a:cs typeface="Arial" pitchFamily="34" charset="-120"/>
              </a:rPr>
              <a:t>Stauffer &amp; Aharony 1994</a:t>
            </a:r>
            <a:endParaRPr lang="en-US" sz="1700" dirty="0"/>
          </a:p>
          <a:p>
            <a:pPr marL="0" indent="0">
              <a:buNone/>
            </a:pPr>
            <a:r>
              <a:rPr lang="en-US" sz="1700" dirty="0">
                <a:solidFill>
                  <a:srgbClr val="D4EEF2"/>
                </a:solidFill>
                <a:latin typeface="Arial" pitchFamily="34" charset="0"/>
                <a:ea typeface="Arial" pitchFamily="34" charset="-122"/>
                <a:cs typeface="Arial" pitchFamily="34" charset="-120"/>
              </a:rPr>
              <a:t>Percolation Theory</a:t>
            </a:r>
            <a:endParaRPr lang="en-US" sz="1700" dirty="0"/>
          </a:p>
          <a:p>
            <a:pPr marL="0" indent="0">
              <a:buNone/>
            </a:pPr>
            <a:r>
              <a:rPr lang="en-US" sz="400" dirty="0">
                <a:solidFill>
                  <a:srgbClr val="D4EEF2"/>
                </a:solidFill>
                <a:latin typeface="Arial" pitchFamily="34" charset="0"/>
                <a:ea typeface="Arial" pitchFamily="34" charset="-122"/>
                <a:cs typeface="Arial" pitchFamily="34" charset="-120"/>
              </a:rPr>
              <a:t> </a:t>
            </a:r>
            <a:endParaRPr lang="en-US" sz="1700" dirty="0"/>
          </a:p>
          <a:p>
            <a:pPr marL="0" indent="0">
              <a:buNone/>
            </a:pPr>
            <a:r>
              <a:rPr lang="en-US" sz="1700" b="1" dirty="0">
                <a:solidFill>
                  <a:srgbClr val="D4EEF2"/>
                </a:solidFill>
                <a:latin typeface="Arial" pitchFamily="34" charset="0"/>
                <a:ea typeface="Arial" pitchFamily="34" charset="-122"/>
                <a:cs typeface="Arial" pitchFamily="34" charset="-120"/>
              </a:rPr>
              <a:t>Network Science Course</a:t>
            </a:r>
            <a:endParaRPr lang="en-US" sz="1700" dirty="0"/>
          </a:p>
          <a:p>
            <a:pPr marL="0" indent="0">
              <a:buNone/>
            </a:pPr>
            <a:r>
              <a:rPr lang="en-US" sz="1700" dirty="0">
                <a:solidFill>
                  <a:srgbClr val="D4EEF2"/>
                </a:solidFill>
                <a:latin typeface="Arial" pitchFamily="34" charset="0"/>
                <a:ea typeface="Arial" pitchFamily="34" charset="-122"/>
                <a:cs typeface="Arial" pitchFamily="34" charset="-120"/>
              </a:rPr>
              <a:t>Sabancı University 2026</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1696</Words>
  <Application>Microsoft Office PowerPoint</Application>
  <PresentationFormat>Custom</PresentationFormat>
  <Paragraphs>98</Paragraphs>
  <Slides>1</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Eren Kendirci</cp:lastModifiedBy>
  <cp:revision>5</cp:revision>
  <dcterms:created xsi:type="dcterms:W3CDTF">2026-05-18T01:31:57Z</dcterms:created>
  <dcterms:modified xsi:type="dcterms:W3CDTF">2026-05-18T06:08:33Z</dcterms:modified>
</cp:coreProperties>
</file>